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 arquitetura de referência já existe; hoje falamos de como ela chega ao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mapa existe e está acordado: padrões, ADRs e templates de referência.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Documento é passivo. A distância entre desenho e código é humana, e por isso varia.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ferramentas de mercado seguem conosco. O que falta é o padrão da casa aplicado por cima delas.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pergunta certa é onde a IA deve decidir. Coletar requisitos é decisão; escrever código é execução.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Solução própria sobre plataforma existente: LangGraph para orquestração, IaraGenAI como fundação.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LangGraph em uma frase: o comportamento do agente é declarado como grafo, não espalhado em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grafos no mesmo motor: um com LLM, dois sem token nenhum. O harness roteia cada pedido.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Demonstrar o terminal: texto solto conversa com LLM, comando com barra é determinístico.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agente decide quando consultar a base vetorial. Buscar sempre custa token e traz ruído.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Wizard determinístico até a spec; só depois dela o LLM escreve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limites são código, não recomendação no prompt. Cinco freios.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ganhos para a gerência e o que passamos a medir.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Já é instalável e versionado. Três horizontes.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estações entregues, duas previstas sem data. O calendário depende da capacidade acordada.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pedidos concretos: produto com dono, squads-piloto, espaço para apresentar às demais áreas.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a demonstração ao vivo: abrir o terminal e rodar o agente em um projeto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062038"/>
            <a:ext cx="838200" cy="95250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" name="Text 1"/>
          <p:cNvSpPr/>
          <p:nvPr/>
        </p:nvSpPr>
        <p:spPr>
          <a:xfrm>
            <a:off x="2019300" y="952500"/>
            <a:ext cx="642205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9FB6E8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CUSTÓDIA DE ATIVOS PF · ENGENHARIA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3924300"/>
            <a:ext cx="14668500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576"/>
              </a:lnSpc>
              <a:buNone/>
            </a:pPr>
            <a:r>
              <a:rPr lang="en-US" sz="9600" b="1" spc="-192" kern="0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Do desenho ao código.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952500" y="5486400"/>
            <a:ext cx="11282363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3000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Custod.IA — o agente que leva a arquitetura de referência até o repositório.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52500" y="9210675"/>
            <a:ext cx="382854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FB6E8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Python · LangGraph · IaraGenAI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4966395" y="9210675"/>
            <a:ext cx="30283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FB6E8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Apresentação à gerência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ONDE CHEGAMOS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13"/>
              </a:lnSpc>
              <a:buNone/>
            </a:pPr>
            <a:r>
              <a:rPr lang="en-US" sz="5400" b="1" spc="-81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arquitetura de referência está estabelecida.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578894"/>
            <a:ext cx="13735050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651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Padrões de projeto, camadas, regra de dependência, decisões em ADR e o desenho do worker e da infraestrutura: definidos, registrados e acordados.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4127599"/>
            <a:ext cx="5206901" cy="3160216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4546699"/>
            <a:ext cx="488939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DEFINIDO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33500" y="5051524"/>
            <a:ext cx="4889391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Padrões e camadas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333500" y="5708749"/>
            <a:ext cx="4578248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Organização por camada, regra de dependência e contratos entre as peças.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540401" y="4127599"/>
            <a:ext cx="5207050" cy="3160216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10" name="Text 8"/>
          <p:cNvSpPr/>
          <p:nvPr/>
        </p:nvSpPr>
        <p:spPr>
          <a:xfrm>
            <a:off x="6921401" y="4546699"/>
            <a:ext cx="488955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REGISTRADO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921401" y="5051524"/>
            <a:ext cx="488955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ADRs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6921401" y="5708749"/>
            <a:ext cx="4578401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Decisões técnicas registradas com contexto e consequência, em vez de conhecimento tácito.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2128450" y="4127599"/>
            <a:ext cx="5207050" cy="3160216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14" name="Text 12"/>
          <p:cNvSpPr/>
          <p:nvPr/>
        </p:nvSpPr>
        <p:spPr>
          <a:xfrm>
            <a:off x="12509450" y="4546699"/>
            <a:ext cx="488955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MATERIALIZADO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509450" y="5051524"/>
            <a:ext cx="488955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Templates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12509450" y="5708749"/>
            <a:ext cx="4578401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Projetos-molde que mostram, em código, como o padrão se parece na prática.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52500" y="7821216"/>
            <a:ext cx="1362075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268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Resta a pergunta difícil: como esse desenho vira código, todo dia, em todo projeto?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PROBLEMA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13"/>
              </a:lnSpc>
              <a:buNone/>
            </a:pPr>
            <a:r>
              <a:rPr lang="en-US" sz="5400" b="1" spc="-81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Mapa não vira código sozinho.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578894"/>
            <a:ext cx="14225588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651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Documentação é passiva. Skill, playbook e guia dependem de alguém lembrar que existem, abrir, interpretar e aplicar — projeto a projeto, desenvolvedor a desenvolvedor, sprint a sprint.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4203799"/>
            <a:ext cx="561594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108"/>
              </a:lnSpc>
              <a:buNone/>
            </a:pPr>
            <a:r>
              <a:rPr lang="en-US" sz="48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52500" y="5022949"/>
            <a:ext cx="561594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915"/>
              </a:lnSpc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distância é humana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52500" y="5643860"/>
            <a:ext cx="5258562" cy="1239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Duas squads leem a mesma página e entregam dois projetos diferentes. O resultado depende de quem executa.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6591300" y="4203799"/>
            <a:ext cx="561594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108"/>
              </a:lnSpc>
              <a:buNone/>
            </a:pPr>
            <a:r>
              <a:rPr lang="en-US" sz="48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591300" y="5022949"/>
            <a:ext cx="561594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915"/>
              </a:lnSpc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Conformidade vira auditoria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6591300" y="5643860"/>
            <a:ext cx="5258562" cy="1239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Verificada depois, quando corrigir já é caro, em vez de garantida antes, quando ainda é barato.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12230100" y="4203799"/>
            <a:ext cx="561594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108"/>
              </a:lnSpc>
              <a:buNone/>
            </a:pPr>
            <a:r>
              <a:rPr lang="en-US" sz="48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2230100" y="5022949"/>
            <a:ext cx="561594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915"/>
              </a:lnSpc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O custo recai sobre quem chega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2230100" y="5643860"/>
            <a:ext cx="5258562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Semanas até distinguir o que é padrão da casa do que é preferência do autor.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952500" y="7454950"/>
            <a:ext cx="13244513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268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É preciso estratégia e técnica para aplicar a arquitetura no código, não mais documentação sobre ela.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QUE FALTA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859"/>
              </a:lnSpc>
              <a:buNone/>
            </a:pPr>
            <a:r>
              <a:rPr lang="en-US" sz="4950" b="1" spc="-74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As ferramentas de mercado são boas — e seguem com a gente.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952500" y="2517130"/>
            <a:ext cx="14716125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651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Devin, Claude Code e os demais entregam valor real e seguem no nosso dia a dia. O que falta não é ferramenta melhor: é o padrão da casa aplicado por cima dela, em todo projeto novo.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3818186"/>
            <a:ext cx="7981950" cy="22458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4065836"/>
            <a:ext cx="810958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Contexto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57300" y="4656386"/>
            <a:ext cx="7593521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nossa arquitetura, as nossas ADRs e as nossas contas AWS não vêm de fábrica em ferramenta alguma. Alguém precisa colocá-las no caminho.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353550" y="3818186"/>
            <a:ext cx="7981950" cy="22458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658350" y="4065836"/>
            <a:ext cx="810958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Fronteira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658350" y="4656386"/>
            <a:ext cx="7593521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Parte do trabalho é decisão já tomada. Sem fronteira explícita, tudo vira interpretação — inclusive o que já era regra.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52500" y="6254502"/>
            <a:ext cx="7981950" cy="22458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257300" y="6502152"/>
            <a:ext cx="810958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Repetibilidade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257300" y="7092702"/>
            <a:ext cx="7593521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que é padrão precisa sair igual todas as vezes. Isso é propriedade de código, não de conversa.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353550" y="6254502"/>
            <a:ext cx="7981950" cy="22458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658350" y="6502152"/>
            <a:ext cx="810958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Reaproveitamento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658350" y="7092702"/>
            <a:ext cx="7593521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Um bom prompt resolve um projeto. Um harness resolve todos — e continua valendo quando o modelo, ou a ferramenta, mudar.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52500" y="8805118"/>
            <a:ext cx="1571625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268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harness não substitui as ferramentas: dá a elas o contexto e o trilho da nossa arquitetura.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F5A65B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VIRADA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6874490" cy="1395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859"/>
              </a:lnSpc>
              <a:buNone/>
            </a:pPr>
            <a:r>
              <a:rPr lang="en-US" sz="4950" b="1" spc="-74" kern="0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pergunta não é qual ferramenta usar. É quando usar cada tipo de fluxo.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5420023" y="3967460"/>
            <a:ext cx="5729139" cy="28575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5" name="Text 3"/>
          <p:cNvSpPr/>
          <p:nvPr/>
        </p:nvSpPr>
        <p:spPr>
          <a:xfrm>
            <a:off x="5420023" y="3310235"/>
            <a:ext cx="5901013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Fluxo determinístico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11606361" y="3967460"/>
            <a:ext cx="5728990" cy="28575"/>
          </a:xfrm>
          <a:prstGeom prst="rect">
            <a:avLst/>
          </a:prstGeom>
          <a:solidFill>
            <a:srgbClr val="5B7FD1"/>
          </a:solidFill>
          <a:ln/>
        </p:spPr>
      </p:sp>
      <p:sp>
        <p:nvSpPr>
          <p:cNvPr id="7" name="Text 5"/>
          <p:cNvSpPr/>
          <p:nvPr/>
        </p:nvSpPr>
        <p:spPr>
          <a:xfrm>
            <a:off x="11606361" y="3310235"/>
            <a:ext cx="590086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Fluxo com LLM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952500" y="4491335"/>
            <a:ext cx="41306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FB6E8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Quem decide o passo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420023" y="4491335"/>
            <a:ext cx="5901013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75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código — arestas explícitas do grafo.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11606361" y="4491335"/>
            <a:ext cx="590086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75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modelo, a partir do contexto.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952500" y="5335191"/>
            <a:ext cx="41306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FB6E8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Mesma entrada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420023" y="5335191"/>
            <a:ext cx="5901013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75" b="1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Sempre a mesma saída.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11606361" y="5335191"/>
            <a:ext cx="590086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75" b="1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Saída não garantida.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952500" y="6179046"/>
            <a:ext cx="41306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FB6E8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Serve para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420023" y="6179046"/>
            <a:ext cx="5901013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75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Coletar requisitos, validar, configurar infraestrutura e gravar a decisão.</a:t>
            </a:r>
            <a:endParaRPr lang="en-US" sz="2175" dirty="0"/>
          </a:p>
        </p:txBody>
      </p:sp>
      <p:sp>
        <p:nvSpPr>
          <p:cNvPr id="16" name="Text 14"/>
          <p:cNvSpPr/>
          <p:nvPr/>
        </p:nvSpPr>
        <p:spPr>
          <a:xfrm>
            <a:off x="11606361" y="6179046"/>
            <a:ext cx="5900860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75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Interpretar texto livre, explicar o domínio e escrever código a partir de decisão já fechada.</a:t>
            </a:r>
            <a:endParaRPr lang="en-US" sz="2175" dirty="0"/>
          </a:p>
        </p:txBody>
      </p:sp>
      <p:sp>
        <p:nvSpPr>
          <p:cNvPr id="17" name="Text 15"/>
          <p:cNvSpPr/>
          <p:nvPr/>
        </p:nvSpPr>
        <p:spPr>
          <a:xfrm>
            <a:off x="952500" y="7796212"/>
            <a:ext cx="41306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FB6E8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Risco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420023" y="7796212"/>
            <a:ext cx="5901013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75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Nenhum. Custo de token: zero.</a:t>
            </a:r>
            <a:endParaRPr lang="en-US" sz="2175" dirty="0"/>
          </a:p>
        </p:txBody>
      </p:sp>
      <p:sp>
        <p:nvSpPr>
          <p:cNvPr id="19" name="Text 17"/>
          <p:cNvSpPr/>
          <p:nvPr/>
        </p:nvSpPr>
        <p:spPr>
          <a:xfrm>
            <a:off x="11606361" y="7796212"/>
            <a:ext cx="5900860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75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Alucinação e drift — por isso, sempre com freio.</a:t>
            </a:r>
            <a:endParaRPr lang="en-US" sz="2175" dirty="0"/>
          </a:p>
        </p:txBody>
      </p:sp>
      <p:sp>
        <p:nvSpPr>
          <p:cNvPr id="20" name="Text 18"/>
          <p:cNvSpPr/>
          <p:nvPr/>
        </p:nvSpPr>
        <p:spPr>
          <a:xfrm>
            <a:off x="952500" y="9064823"/>
            <a:ext cx="180213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268"/>
              </a:lnSpc>
              <a:buNone/>
            </a:pPr>
            <a:r>
              <a:rPr lang="en-US" sz="2400" b="1" dirty="0">
                <a:solidFill>
                  <a:srgbClr val="F5A65B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harness é quem sabe a diferença e escolhe o trilho certo a cada passo. É daí que vem a assertividade.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DECISÃO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13"/>
              </a:lnSpc>
              <a:buNone/>
            </a:pPr>
            <a:r>
              <a:rPr lang="en-US" sz="5400" b="1" spc="-81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Construir o harness em casa, sobre o que o banco já tem.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578894"/>
            <a:ext cx="14225588" cy="1446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651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Estudamos o que existe no mercado e dentro do banco. A decisão foi por solução própria por um motivo específico: o harness é nosso — evolui no nosso ritmo e a mesma engine se reaproveita em outras soluções.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4559052"/>
            <a:ext cx="56717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MOTIVO 01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52500" y="5044827"/>
            <a:ext cx="567176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30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engine é ativo nosso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52500" y="5673477"/>
            <a:ext cx="5310835" cy="1640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Orquestração, guardrails, ferramentas e integração com a plataforma do banco ficam numa base que já serve à próxima solução, não só a esta.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6565850" y="4559052"/>
            <a:ext cx="56717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MOTIVO 02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565850" y="5044827"/>
            <a:ext cx="567176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30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Evolui na nossa agenda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565850" y="5673477"/>
            <a:ext cx="5310835" cy="1640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Uma necessidade nova da custódia vira feature quando decidirmos, com o contexto que só nós temos, sem depender de roadmap de terceiro.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12179201" y="4559052"/>
            <a:ext cx="56717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MOTIVO 03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179201" y="5044827"/>
            <a:ext cx="567176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30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Assenta sobre o IaraGenAI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2179201" y="5673477"/>
            <a:ext cx="5310835" cy="1640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Modelos democratizados, gateway autenticado e base vetorial já existem na casa. Consumimos a plataforma em vez de construir outra.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952500" y="7846963"/>
            <a:ext cx="1471612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268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Não construímos plataforma de IA nem substituímos ferramenta de codificação. Construímos o trilho que aplica a nossa arquitetura — reaproveitável por construção.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MOTOR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859"/>
              </a:lnSpc>
              <a:buNone/>
            </a:pPr>
            <a:r>
              <a:rPr lang="en-US" sz="4950" b="1" spc="-74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LangGraph, em uma frase: o fluxo do agente vira um diagrama.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952500" y="2517130"/>
            <a:ext cx="14716125" cy="1446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651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É uma biblioteca de orquestração. Em vez de ficar espalhado no código, o comportamento do agente é declarado como um grafo: caixas que fazem uma coisa cada e setas que dizem para onde ir depois.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4344888"/>
            <a:ext cx="7886700" cy="2350591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4649688"/>
            <a:ext cx="792099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Nó — uma caixa, um passo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5230713"/>
            <a:ext cx="7416927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Perguntar a fila, consultar a AWS, chamar o modelo, gravar a spec. Cada passo é isolado: dá para testar e trocar um sem mexer nos outros.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448800" y="4344888"/>
            <a:ext cx="7886700" cy="2350591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9" name="Text 7"/>
          <p:cNvSpPr/>
          <p:nvPr/>
        </p:nvSpPr>
        <p:spPr>
          <a:xfrm>
            <a:off x="9791700" y="4649688"/>
            <a:ext cx="792099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Aresta condicional — a regra visível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791700" y="5230713"/>
            <a:ext cx="7416927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"Se não confirmou, encerra sem gravar" é uma seta no diagrama, que se lê e se audita — não uma condicional perdida em duzentas linhas.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52500" y="6962180"/>
            <a:ext cx="7886700" cy="2350591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266980"/>
            <a:ext cx="792099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Pausa e retomada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295400" y="7848005"/>
            <a:ext cx="7416927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grafo congela, descreve o que precisa saber e espera. Hoje quem responde é o terminal; amanhã pode ser uma tela web, sem tocar no fluxo.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448800" y="6962180"/>
            <a:ext cx="7886700" cy="2350591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15" name="Text 13"/>
          <p:cNvSpPr/>
          <p:nvPr/>
        </p:nvSpPr>
        <p:spPr>
          <a:xfrm>
            <a:off x="9791700" y="7266980"/>
            <a:ext cx="792099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Um motor só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791700" y="7848005"/>
            <a:ext cx="7416927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Fluxo determinístico e fluxo com LLM são grafos na mesma biblioteca. Uma forma de orquestrar, e a engine inteira reaproveitável.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GRAFO HOJE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859"/>
              </a:lnSpc>
              <a:buNone/>
            </a:pPr>
            <a:r>
              <a:rPr lang="en-US" sz="4950" b="1" spc="-74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O que já está desenhado e rodando.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952500" y="2479030"/>
            <a:ext cx="15206662" cy="921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1"/>
              </a:lnSpc>
              <a:buNone/>
            </a:pPr>
            <a:r>
              <a:rPr lang="en-US" sz="24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Três grafos no mesmo motor. Um usa LLM; dois não consomem token algum — e é o harness que roteia cada pedido para o trilho certo.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52500" y="3705671"/>
            <a:ext cx="561594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Conversa · com LLM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52500" y="4324796"/>
            <a:ext cx="5105400" cy="5048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4439096"/>
            <a:ext cx="48775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952500" y="4982021"/>
            <a:ext cx="56159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↓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5429696"/>
            <a:ext cx="5105400" cy="876300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5563046"/>
            <a:ext cx="51968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assistant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143000" y="5877371"/>
            <a:ext cx="51968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chama o modelo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2500" y="6458396"/>
            <a:ext cx="56159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↓ tool_call · ↑ resultado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52500" y="6906071"/>
            <a:ext cx="5105400" cy="876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7039421"/>
            <a:ext cx="51968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143000" y="7353746"/>
            <a:ext cx="51968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executa e devolve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52500" y="7934771"/>
            <a:ext cx="56159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↓ sem tool_call → END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52500" y="8458646"/>
            <a:ext cx="5258562" cy="1077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03"/>
              </a:lnSpc>
              <a:buNone/>
            </a:pPr>
            <a:r>
              <a:rPr lang="en-US" sz="19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Ferramentas: ler e listar arquivos, escrever, rodar Maven e buscar na base de conhecimento.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6591300" y="3705671"/>
            <a:ext cx="561594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/initialize · determinístico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591300" y="4324796"/>
            <a:ext cx="5105400" cy="5048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781800" y="4439096"/>
            <a:ext cx="172829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tipo_projeto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8448229" y="4439096"/>
            <a:ext cx="158423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app → END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6591300" y="4982021"/>
            <a:ext cx="5105400" cy="5048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781800" y="5096321"/>
            <a:ext cx="99268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gatilho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7793534" y="5096321"/>
            <a:ext cx="230423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schedule → END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6591300" y="5639246"/>
            <a:ext cx="5105400" cy="5048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781800" y="5753546"/>
            <a:ext cx="48775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fila · vazão · dependências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6591300" y="6296471"/>
            <a:ext cx="5105400" cy="5048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781800" y="6410771"/>
            <a:ext cx="99268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revisar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7793534" y="6410771"/>
            <a:ext cx="158423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não → END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6591300" y="6953696"/>
            <a:ext cx="5105400" cy="504825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31" name="Text 29"/>
          <p:cNvSpPr/>
          <p:nvPr/>
        </p:nvSpPr>
        <p:spPr>
          <a:xfrm>
            <a:off x="6781800" y="7067996"/>
            <a:ext cx="48775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salvar → spec.json</a:t>
            </a:r>
            <a:endParaRPr lang="en-US" sz="1875" dirty="0"/>
          </a:p>
        </p:txBody>
      </p:sp>
      <p:sp>
        <p:nvSpPr>
          <p:cNvPr id="32" name="Text 30"/>
          <p:cNvSpPr/>
          <p:nvPr/>
        </p:nvSpPr>
        <p:spPr>
          <a:xfrm>
            <a:off x="6591300" y="7687121"/>
            <a:ext cx="5258562" cy="1077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03"/>
              </a:lnSpc>
              <a:buNone/>
            </a:pPr>
            <a:r>
              <a:rPr lang="en-US" sz="19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Nenhum nó chama modelo. Só o último escreve em disco: desistir em qualquer ponto não deixa rastro.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2230100" y="3705671"/>
            <a:ext cx="561594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/infra · determinístico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12230100" y="4324796"/>
            <a:ext cx="5105400" cy="5048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12420600" y="4439096"/>
            <a:ext cx="125462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ambientes</a:t>
            </a:r>
            <a:endParaRPr lang="en-US" sz="1875" dirty="0"/>
          </a:p>
        </p:txBody>
      </p:sp>
      <p:sp>
        <p:nvSpPr>
          <p:cNvPr id="36" name="Text 34"/>
          <p:cNvSpPr/>
          <p:nvPr/>
        </p:nvSpPr>
        <p:spPr>
          <a:xfrm>
            <a:off x="13694271" y="4439096"/>
            <a:ext cx="259236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dev · hom · prod</a:t>
            </a:r>
            <a:endParaRPr lang="en-US" sz="1875" dirty="0"/>
          </a:p>
        </p:txBody>
      </p:sp>
      <p:sp>
        <p:nvSpPr>
          <p:cNvPr id="37" name="Shape 35"/>
          <p:cNvSpPr/>
          <p:nvPr/>
        </p:nvSpPr>
        <p:spPr>
          <a:xfrm>
            <a:off x="12230100" y="4982021"/>
            <a:ext cx="5105400" cy="5048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12420600" y="5096321"/>
            <a:ext cx="201626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validar_perfis</a:t>
            </a:r>
            <a:endParaRPr lang="en-US" sz="1875" dirty="0"/>
          </a:p>
        </p:txBody>
      </p:sp>
      <p:sp>
        <p:nvSpPr>
          <p:cNvPr id="39" name="Text 37"/>
          <p:cNvSpPr/>
          <p:nvPr/>
        </p:nvSpPr>
        <p:spPr>
          <a:xfrm>
            <a:off x="14348817" y="5096321"/>
            <a:ext cx="201626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falhou → END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12230100" y="5639246"/>
            <a:ext cx="5105400" cy="1323975"/>
          </a:xfrm>
          <a:prstGeom prst="rect">
            <a:avLst/>
          </a:prstGeom>
          <a:ln w="19050">
            <a:solidFill>
              <a:srgbClr val="EC700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2439650" y="5791646"/>
            <a:ext cx="515493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CICLO · UM AMBIENTE POR VEZ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2439650" y="6144071"/>
            <a:ext cx="4826889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00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 → vpc → subnets → cidrs → filas → vazão → sts</a:t>
            </a:r>
            <a:endParaRPr lang="en-US" sz="1875" dirty="0"/>
          </a:p>
        </p:txBody>
      </p:sp>
      <p:sp>
        <p:nvSpPr>
          <p:cNvPr id="43" name="Shape 41"/>
          <p:cNvSpPr/>
          <p:nvPr/>
        </p:nvSpPr>
        <p:spPr>
          <a:xfrm>
            <a:off x="12230100" y="7115621"/>
            <a:ext cx="5105400" cy="504825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44" name="Text 42"/>
          <p:cNvSpPr/>
          <p:nvPr/>
        </p:nvSpPr>
        <p:spPr>
          <a:xfrm>
            <a:off x="12420600" y="7229921"/>
            <a:ext cx="48775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revisar → escrever</a:t>
            </a:r>
            <a:endParaRPr lang="en-US" sz="1875" dirty="0"/>
          </a:p>
        </p:txBody>
      </p:sp>
      <p:sp>
        <p:nvSpPr>
          <p:cNvPr id="45" name="Text 43"/>
          <p:cNvSpPr/>
          <p:nvPr/>
        </p:nvSpPr>
        <p:spPr>
          <a:xfrm>
            <a:off x="12230100" y="7849046"/>
            <a:ext cx="52585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03"/>
              </a:lnSpc>
              <a:buNone/>
            </a:pPr>
            <a:r>
              <a:rPr lang="en-US" sz="19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Quem chama a AWS nunca pausa: retomar uma sessão não refaz consulta de rede.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NA PRÁTICA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13"/>
              </a:lnSpc>
              <a:buNone/>
            </a:pPr>
            <a:r>
              <a:rPr lang="en-US" sz="5400" b="1" spc="-81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Custod.IA — o agente da custódia.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769394"/>
            <a:ext cx="7519940" cy="1363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1"/>
              </a:lnSpc>
              <a:buNone/>
            </a:pPr>
            <a:r>
              <a:rPr lang="en-US" sz="24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desenvolvedor entra na pasta do repositório e executa o comando custodia. No mesmo lugar, dois modos de uso.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52500" y="4437906"/>
            <a:ext cx="8031004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Conversa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52500" y="5018931"/>
            <a:ext cx="751994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Texto livre, assistido por LLM e ancorado no nosso domínio.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952500" y="6162824"/>
            <a:ext cx="8031004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Comandos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52500" y="6743849"/>
            <a:ext cx="751994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Iniciados por barra: 100% determinísticos, sem improviso. A separação é deliberada e visível para quem usa.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8939213" y="2769394"/>
            <a:ext cx="8396139" cy="4944666"/>
          </a:xfrm>
          <a:prstGeom prst="rect">
            <a:avLst/>
          </a:prstGeom>
          <a:solidFill>
            <a:srgbClr val="0F1420"/>
          </a:solidFill>
          <a:ln/>
        </p:spPr>
      </p:sp>
      <p:sp>
        <p:nvSpPr>
          <p:cNvPr id="10" name="Text 8"/>
          <p:cNvSpPr/>
          <p:nvPr/>
        </p:nvSpPr>
        <p:spPr>
          <a:xfrm>
            <a:off x="9377363" y="3188494"/>
            <a:ext cx="7745434" cy="44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87"/>
              </a:lnSpc>
              <a:buNone/>
            </a:pPr>
            <a:r>
              <a:rPr lang="en-US" sz="1950" dirty="0">
                <a:solidFill>
                  <a:srgbClr val="5B7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══════════════════════════════════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377363" y="3597027"/>
            <a:ext cx="7745434" cy="44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87"/>
              </a:lnSpc>
              <a:buNone/>
            </a:pPr>
            <a:r>
              <a:rPr lang="en-US" sz="1950" dirty="0">
                <a:solidFill>
                  <a:srgbClr val="5B7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Custod.IA 0.2.0 · agente da custódia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377363" y="4005560"/>
            <a:ext cx="7745434" cy="44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87"/>
              </a:lnSpc>
              <a:buNone/>
            </a:pPr>
            <a:r>
              <a:rPr lang="en-US" sz="1950" dirty="0">
                <a:solidFill>
                  <a:srgbClr val="5B7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══════════════════════════════════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377363" y="4623643"/>
            <a:ext cx="212378" cy="44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87"/>
              </a:lnSpc>
              <a:buNone/>
            </a:pPr>
            <a:r>
              <a:rPr lang="en-US" sz="1950" dirty="0">
                <a:solidFill>
                  <a:srgbClr val="EC7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627840" y="4623643"/>
            <a:ext cx="5750019" cy="44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87"/>
              </a:lnSpc>
              <a:buNone/>
            </a:pPr>
            <a:r>
              <a:rPr lang="en-US" sz="1950" dirty="0">
                <a:solidFill>
                  <a:srgbClr val="D8E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 é o padrão de retry do listener SQS?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377363" y="5241727"/>
            <a:ext cx="7745434" cy="44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87"/>
              </a:lnSpc>
              <a:buNone/>
            </a:pPr>
            <a:r>
              <a:rPr lang="en-US" sz="1950" dirty="0">
                <a:solidFill>
                  <a:srgbClr val="8FD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buscar_conhecimento — consulta a KB da arquitetura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377363" y="5650260"/>
            <a:ext cx="7745434" cy="44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87"/>
              </a:lnSpc>
              <a:buNone/>
            </a:pPr>
            <a:r>
              <a:rPr lang="en-US" sz="1950" dirty="0">
                <a:solidFill>
                  <a:srgbClr val="9FB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resposta ancorada no documento, com a fonte citada.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377363" y="6268343"/>
            <a:ext cx="212378" cy="44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87"/>
              </a:lnSpc>
              <a:buNone/>
            </a:pPr>
            <a:r>
              <a:rPr lang="en-US" sz="1950" dirty="0">
                <a:solidFill>
                  <a:srgbClr val="EC7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627840" y="6268343"/>
            <a:ext cx="1574006" cy="44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87"/>
              </a:lnSpc>
              <a:buNone/>
            </a:pPr>
            <a:r>
              <a:rPr lang="en-US" sz="1950" dirty="0">
                <a:solidFill>
                  <a:srgbClr val="D8E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/initialize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1239946" y="6268343"/>
            <a:ext cx="4768331" cy="44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87"/>
              </a:lnSpc>
              <a:buNone/>
            </a:pPr>
            <a:r>
              <a:rPr lang="en-US" sz="1950" dirty="0">
                <a:solidFill>
                  <a:srgbClr val="9FB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wizard determinístico — zero token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377363" y="6886426"/>
            <a:ext cx="212378" cy="44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87"/>
              </a:lnSpc>
              <a:buNone/>
            </a:pPr>
            <a:r>
              <a:rPr lang="en-US" sz="1950" dirty="0">
                <a:solidFill>
                  <a:srgbClr val="EC7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627840" y="6886426"/>
            <a:ext cx="893266" cy="44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87"/>
              </a:lnSpc>
              <a:buNone/>
            </a:pPr>
            <a:r>
              <a:rPr lang="en-US" sz="1950" dirty="0">
                <a:solidFill>
                  <a:srgbClr val="D8E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/infra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559207" y="6886426"/>
            <a:ext cx="6170808" cy="44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87"/>
              </a:lnSpc>
              <a:buNone/>
            </a:pPr>
            <a:r>
              <a:rPr lang="en-US" sz="1950" dirty="0">
                <a:solidFill>
                  <a:srgbClr val="9FB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dev, hom e prod — lendo a AWS real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ENTREGA 01 · RAG DA ARQUITETURA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13"/>
              </a:lnSpc>
              <a:buNone/>
            </a:pPr>
            <a:r>
              <a:rPr lang="en-US" sz="5400" b="1" spc="-81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arquitetura de referência, respondendo.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578894"/>
            <a:ext cx="14225588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651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agente avalia se precisa consultar a base vetorial antes de responder. Não busca sempre: buscar sempre custa token e traz ruído.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4127599"/>
            <a:ext cx="863346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base é a do banco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52500" y="4708624"/>
            <a:ext cx="8084058" cy="1239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indexação vem da solução interna de embedding do IaraGenAI; o agente consome a Knowledge Base, sem índice paralelo.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9486900" y="4127599"/>
            <a:ext cx="863346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decisão de buscar é do agente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486900" y="4708624"/>
            <a:ext cx="8084058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É aqui que a IA agrega valor: julgar se a pergunta trata do nosso padrão ou de Java genérico.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952500" y="6329214"/>
            <a:ext cx="863346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resposta vem ancorada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52500" y="6910239"/>
            <a:ext cx="8084058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No nosso documento, com a fonte citada, e não no treinamento do modelo.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9486900" y="6329214"/>
            <a:ext cx="863346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O efeito prático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486900" y="6910239"/>
            <a:ext cx="8084058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arquitetura deixa de ser um documento a ser aberto e passa a responder onde o desenvolvedor está: o terminal.</a:t>
            </a:r>
            <a:endParaRPr lang="en-US" sz="21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ENTREGA 02 · STARTER DE PROJETOS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13"/>
              </a:lnSpc>
              <a:buNone/>
            </a:pPr>
            <a:r>
              <a:rPr lang="en-US" sz="5400" b="1" spc="-81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Um projeto novo que nasce dentro do padrão.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52500" y="2807494"/>
            <a:ext cx="3924300" cy="21468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276350" y="3112294"/>
            <a:ext cx="36042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7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/initialize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276350" y="3569494"/>
            <a:ext cx="360426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2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determinístico, sem LLM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5105400" y="2807494"/>
            <a:ext cx="3924300" cy="21468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429250" y="3112294"/>
            <a:ext cx="36042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7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spec.json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5429250" y="3569494"/>
            <a:ext cx="3374898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2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decisão versionada e revisável em PR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9258300" y="2807494"/>
            <a:ext cx="3924300" cy="21468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9582150" y="3112294"/>
            <a:ext cx="36042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7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/infra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582150" y="3569494"/>
            <a:ext cx="3374898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2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terraform de dev, hom e prod com dados reais da conta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13411200" y="2807494"/>
            <a:ext cx="3924300" cy="2146846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14" name="Text 12"/>
          <p:cNvSpPr/>
          <p:nvPr/>
        </p:nvSpPr>
        <p:spPr>
          <a:xfrm>
            <a:off x="13735050" y="3112294"/>
            <a:ext cx="36042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5A6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/generate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3735050" y="3569494"/>
            <a:ext cx="3374898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aqui, sim, o LLM escreve — a partir da spec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952500" y="5563939"/>
            <a:ext cx="561594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Oferece o que existe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52500" y="6106864"/>
            <a:ext cx="5258562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Cluster, VPC, subnets e filas são listados a partir da conta, em vez de digitados de memória.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591300" y="5563939"/>
            <a:ext cx="561594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Autoscaling calculado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6591300" y="6106864"/>
            <a:ext cx="5258562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Fórmula sobre vazão, concorrência e tempo de processamento, com o cálculo exibido antes de gravar.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230100" y="5563939"/>
            <a:ext cx="561594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Nada antes da confirmação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2230100" y="6106864"/>
            <a:ext cx="5258562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Toda escrita depende de confirmação explícita. Cancelar não deixa rastro no projeto.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GOVERNANÇA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13"/>
              </a:lnSpc>
              <a:buNone/>
            </a:pPr>
            <a:r>
              <a:rPr lang="en-US" sz="5400" b="1" spc="-81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Onde a IA entra, ela entra com freio.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578894"/>
            <a:ext cx="14225588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651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diferença entre um agente de mercado e um agente da casa: aqui os limites são código, não recomendação em prompt.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4203799"/>
            <a:ext cx="326898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778"/>
              </a:lnSpc>
              <a:buNone/>
            </a:pPr>
            <a:r>
              <a:rPr lang="en-US" sz="42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52500" y="4908649"/>
            <a:ext cx="3268980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659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spec é a fronteira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52500" y="5445770"/>
            <a:ext cx="3060954" cy="190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Antes dela, tudo é determinístico. Depois dela, um erro do modelo é erro de código, nunca de decisão.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4305300" y="4203799"/>
            <a:ext cx="326898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778"/>
              </a:lnSpc>
              <a:buNone/>
            </a:pPr>
            <a:r>
              <a:rPr lang="en-US" sz="42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02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305300" y="4908649"/>
            <a:ext cx="3268980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659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Human-in-the-loop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305300" y="5445770"/>
            <a:ext cx="3060954" cy="190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Toda escrita em arquivo e todo comando de build param e pedem aprovação, com o conteúdo na tela.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7658100" y="4203799"/>
            <a:ext cx="326898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778"/>
              </a:lnSpc>
              <a:buNone/>
            </a:pPr>
            <a:r>
              <a:rPr lang="en-US" sz="42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03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7658100" y="4908649"/>
            <a:ext cx="3268980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659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Sandbox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658100" y="5445770"/>
            <a:ext cx="3060954" cy="1529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As ferramentas do agente estão presas à pasta do projeto. Ele não escapa dela.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11010900" y="4203799"/>
            <a:ext cx="326898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778"/>
              </a:lnSpc>
              <a:buNone/>
            </a:pPr>
            <a:r>
              <a:rPr lang="en-US" sz="42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04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1010900" y="4908649"/>
            <a:ext cx="3268980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659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Só leitura na nuvem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010900" y="5445770"/>
            <a:ext cx="3060954" cy="190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agente consulta a AWS e nunca aplica. Quem aplica é o Terraform, pelo pipeline e pelas aprovações de sempre.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14363700" y="4203799"/>
            <a:ext cx="326898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778"/>
              </a:lnSpc>
              <a:buNone/>
            </a:pPr>
            <a:r>
              <a:rPr lang="en-US" sz="42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05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14363700" y="4908649"/>
            <a:ext cx="3268980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659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Decisão auditável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4363700" y="5445770"/>
            <a:ext cx="3060954" cy="1529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spec.json vai para o repositório e é revisada em PR, separada do código gerado.</a:t>
            </a:r>
            <a:endParaRPr lang="en-US" sz="20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QUE MUDA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13"/>
              </a:lnSpc>
              <a:buNone/>
            </a:pPr>
            <a:r>
              <a:rPr lang="en-US" sz="5400" b="1" spc="-81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O que muda para a gerência.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52500" y="2807494"/>
            <a:ext cx="7924800" cy="25259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352550" y="3169444"/>
            <a:ext cx="78371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CONFORMIDADE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52550" y="3617119"/>
            <a:ext cx="783717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Padrão por construção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352550" y="4198144"/>
            <a:ext cx="7338441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projeto nasce aderente à arquitetura. A revisão deixa de procurar desvios e passa a discutir negócio.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410700" y="2807494"/>
            <a:ext cx="7924800" cy="25259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810750" y="3169444"/>
            <a:ext cx="78371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CUSTO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810750" y="3617119"/>
            <a:ext cx="783717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Token onde faz diferença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810750" y="4198144"/>
            <a:ext cx="7338441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que é regra vira código e custa zero. O modelo é acionado apenas onde há julgamento a fazer.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52500" y="5638205"/>
            <a:ext cx="7924800" cy="25259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352550" y="6000155"/>
            <a:ext cx="78371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TEMPO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352550" y="6447830"/>
            <a:ext cx="783717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Setup em minutos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352550" y="7028855"/>
            <a:ext cx="7338441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Configurar projeto e infraestrutura deixa de consumir uma semana de adaptação entre repositórios.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410700" y="5638205"/>
            <a:ext cx="7924800" cy="25259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9810750" y="6000155"/>
            <a:ext cx="78371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CONHECIMENTO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810750" y="6447830"/>
            <a:ext cx="783717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Padrão que não evapora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810750" y="7028855"/>
            <a:ext cx="7338441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arquitetura fica no agente, e não apenas com quem a escreveu. Quem chega já produz dentro do padrão.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52500" y="8621316"/>
            <a:ext cx="15697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26"/>
              </a:lnSpc>
              <a:buNone/>
            </a:pPr>
            <a:r>
              <a:rPr lang="en-US" sz="225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Métricas a acompanhar a partir daqui: tempo até o primeiro deploy, desvios de arquitetura encontrados em revisão e custo de token por projeto configurado.</a:t>
            </a:r>
            <a:endParaRPr lang="en-US" sz="2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VISÃO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13"/>
              </a:lnSpc>
              <a:buNone/>
            </a:pPr>
            <a:r>
              <a:rPr lang="en-US" sz="5400" b="1" spc="-81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Custod.IA não é um script. É um produto.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578894"/>
            <a:ext cx="14716125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651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Já é instalável, versionado e distribuído internamente pelo Artifactory do banco, via pip install custodia-cli. Tem versão, release e usuários. Falta tratá-lo como produto na agenda da área.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4165699"/>
            <a:ext cx="56159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HORIZONTE 01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52500" y="4651474"/>
            <a:ext cx="561594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Evoluir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952500" y="5365849"/>
            <a:ext cx="5258562" cy="1640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Fechar o ciclo: geração do pom.xml e do listener a partir da spec, suporte a App e Schedule além do Worker e retomada de sessão interrompida.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6591300" y="4165699"/>
            <a:ext cx="56159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HORIZONTE 02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591300" y="4651474"/>
            <a:ext cx="561594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Democratizar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6591300" y="5365849"/>
            <a:ext cx="5258562" cy="1239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Toda a custódia usando: onboarding das squads, documentação viva e coleta de uso para priorizar o backlog com dado.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12230100" y="4165699"/>
            <a:ext cx="56159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HORIZONTE 03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230100" y="4651474"/>
            <a:ext cx="561594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Expandir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2230100" y="5365849"/>
            <a:ext cx="5258562" cy="1239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Além da custódia: o motor é o mesmo. Trocar o domínio e a arquitetura de referência atende outras áreas.</a:t>
            </a:r>
            <a:endParaRPr lang="en-US" sz="21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F5A65B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LINHA DO TEMPO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859"/>
              </a:lnSpc>
              <a:buNone/>
            </a:pPr>
            <a:r>
              <a:rPr lang="en-US" sz="4950" b="1" spc="-74" kern="0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O caminho já está desenhado. A data, ainda não.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952500" y="2936230"/>
            <a:ext cx="247650" cy="247650"/>
          </a:xfrm>
          <a:prstGeom prst="ellipse">
            <a:avLst/>
          </a:prstGeom>
          <a:solidFill>
            <a:srgbClr val="EC7000"/>
          </a:solidFill>
          <a:ln/>
        </p:spPr>
      </p:sp>
      <p:sp>
        <p:nvSpPr>
          <p:cNvPr id="5" name="Shape 3"/>
          <p:cNvSpPr/>
          <p:nvPr/>
        </p:nvSpPr>
        <p:spPr>
          <a:xfrm>
            <a:off x="1200150" y="3041005"/>
            <a:ext cx="2785021" cy="38100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3393430"/>
            <a:ext cx="333593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Fundação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52500" y="4012555"/>
            <a:ext cx="333593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225" kern="0" dirty="0">
                <a:solidFill>
                  <a:srgbClr val="F5A65B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ENTREGUE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952500" y="4526905"/>
            <a:ext cx="3123651" cy="190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CLI distribuída pelo Artifactory, conversa sobre o domínio, guardrails de aprovação e sandbox.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4289971" y="2936230"/>
            <a:ext cx="247650" cy="247650"/>
          </a:xfrm>
          <a:prstGeom prst="ellipse">
            <a:avLst/>
          </a:prstGeom>
          <a:solidFill>
            <a:srgbClr val="EC7000"/>
          </a:solidFill>
          <a:ln/>
        </p:spPr>
      </p:sp>
      <p:sp>
        <p:nvSpPr>
          <p:cNvPr id="10" name="Shape 8"/>
          <p:cNvSpPr/>
          <p:nvPr/>
        </p:nvSpPr>
        <p:spPr>
          <a:xfrm>
            <a:off x="4537621" y="3041005"/>
            <a:ext cx="2785170" cy="38100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11" name="Text 9"/>
          <p:cNvSpPr/>
          <p:nvPr/>
        </p:nvSpPr>
        <p:spPr>
          <a:xfrm>
            <a:off x="4289971" y="3393430"/>
            <a:ext cx="333610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RAG da arquitetura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4289971" y="4012555"/>
            <a:ext cx="333610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225" kern="0" dirty="0">
                <a:solidFill>
                  <a:srgbClr val="F5A65B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ENTREGUE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4289971" y="4526905"/>
            <a:ext cx="3123804" cy="1156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agente decide quando consultar a base vetorial no IaraGenAI.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7627590" y="2936230"/>
            <a:ext cx="247650" cy="24765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EC7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75240" y="3041005"/>
            <a:ext cx="2785021" cy="381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</p:sp>
      <p:sp>
        <p:nvSpPr>
          <p:cNvPr id="16" name="Text 14"/>
          <p:cNvSpPr/>
          <p:nvPr/>
        </p:nvSpPr>
        <p:spPr>
          <a:xfrm>
            <a:off x="7627590" y="3393430"/>
            <a:ext cx="3123651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Starter e infraestrutura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7627590" y="4422130"/>
            <a:ext cx="3123651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225" kern="0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ENTREGUE · ESTAMOS AQUI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7627590" y="5241280"/>
            <a:ext cx="3123651" cy="1529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Wizard determinístico da spec e Terraform de dev, hom e prod com contas AWS reais.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10965061" y="2936230"/>
            <a:ext cx="247650" cy="247650"/>
          </a:xfrm>
          <a:prstGeom prst="ellipse">
            <a:avLst/>
          </a:prstGeom>
          <a:ln w="38100">
            <a:solidFill>
              <a:srgbClr val="5B7F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212711" y="3041005"/>
            <a:ext cx="2785170" cy="381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/>
        </p:spPr>
      </p:sp>
      <p:sp>
        <p:nvSpPr>
          <p:cNvPr id="21" name="Text 19"/>
          <p:cNvSpPr/>
          <p:nvPr/>
        </p:nvSpPr>
        <p:spPr>
          <a:xfrm>
            <a:off x="10965061" y="3393430"/>
            <a:ext cx="333610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9FB6E8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Geração do código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10965061" y="4012555"/>
            <a:ext cx="333610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225" kern="0" dirty="0">
                <a:solidFill>
                  <a:srgbClr val="9FB6E8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PREVISTO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0965061" y="4526905"/>
            <a:ext cx="3123804" cy="1529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pom.xml e listener escritos a partir da spec; Worker acompanhado por App e Schedule.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14302680" y="2936230"/>
            <a:ext cx="247650" cy="247650"/>
          </a:xfrm>
          <a:prstGeom prst="ellipse">
            <a:avLst/>
          </a:prstGeom>
          <a:ln w="38100">
            <a:solidFill>
              <a:srgbClr val="5B7F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302680" y="3393430"/>
            <a:ext cx="333593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9FB6E8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Piloto e expansão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4302680" y="4012555"/>
            <a:ext cx="333593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225" kern="0" dirty="0">
                <a:solidFill>
                  <a:srgbClr val="9FB6E8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PREVISTO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14302680" y="4526905"/>
            <a:ext cx="3123651" cy="190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Squads-piloto na custódia, métricas de uso e o motor levado a outras áreas com arquitetura própria.</a:t>
            </a:r>
            <a:endParaRPr lang="en-US" sz="2025" dirty="0"/>
          </a:p>
        </p:txBody>
      </p:sp>
      <p:sp>
        <p:nvSpPr>
          <p:cNvPr id="28" name="Text 26"/>
          <p:cNvSpPr/>
          <p:nvPr/>
        </p:nvSpPr>
        <p:spPr>
          <a:xfrm>
            <a:off x="952500" y="7304038"/>
            <a:ext cx="15697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26"/>
              </a:lnSpc>
              <a:buNone/>
            </a:pPr>
            <a:r>
              <a:rPr lang="en-US" sz="2250" b="1" dirty="0">
                <a:solidFill>
                  <a:srgbClr val="F5A65B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sequência está priorizada; o calendário depende da capacidade acordada. Assumir prazo antes de acordar capacidade é o que transforma a iniciativa em dívida.</a:t>
            </a:r>
            <a:endParaRPr lang="en-US" sz="2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C7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PEDIDO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13"/>
              </a:lnSpc>
              <a:buNone/>
            </a:pPr>
            <a:r>
              <a:rPr lang="en-US" sz="5400" b="1" spc="-81" kern="0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Esta é a próxima etapa do que já construímos.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997994"/>
            <a:ext cx="567176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778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01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52500" y="3702844"/>
            <a:ext cx="5671765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061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Reconhecer como produto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52500" y="4308574"/>
            <a:ext cx="5310835" cy="1239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A1C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Com dono, backlog e espaço na capacidade do time, e não como iniciativa paralela.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6565850" y="2997994"/>
            <a:ext cx="567176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778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02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565850" y="3702844"/>
            <a:ext cx="5671765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061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Squads-piloto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565850" y="4308574"/>
            <a:ext cx="5310835" cy="1239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A1C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Nos próximos projetos novos da custódia, com acompanhamento das métricas acordadas.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12179201" y="2997994"/>
            <a:ext cx="567176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778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03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2179201" y="3702844"/>
            <a:ext cx="5671765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061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Espaço nas demais áreas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2179201" y="4308574"/>
            <a:ext cx="5310835" cy="1239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A1C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Começando pelas que já têm arquitetura de referência escrita e o mesmo problema de aplicá-la.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952500" y="6233964"/>
            <a:ext cx="1571625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91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arquitetura de referência já existe. A Custod.IA é como ela chega ao código.</a:t>
            </a:r>
            <a:endParaRPr lang="en-US" sz="3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FFFF">
                  <a:alpha val="5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8259370"/>
            <a:ext cx="18288000" cy="857250"/>
          </a:xfrm>
          <a:prstGeom prst="rect">
            <a:avLst/>
          </a:prstGeom>
          <a:gradFill rotWithShape="1">
            <a:gsLst>
              <a:gs pos="0">
                <a:srgbClr val="EC7000">
                  <a:alpha val="0"/>
                </a:srgbClr>
              </a:gs>
              <a:gs pos="100000">
                <a:srgbClr val="EC7000">
                  <a:alpha val="18000"/>
                </a:srgbClr>
              </a:gs>
            </a:gsLst>
            <a:lin ang="540000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952500" y="1062038"/>
            <a:ext cx="838200" cy="95250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5" name="Text 3"/>
          <p:cNvSpPr/>
          <p:nvPr/>
        </p:nvSpPr>
        <p:spPr>
          <a:xfrm>
            <a:off x="2019300" y="952500"/>
            <a:ext cx="421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F5A65B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DEMONSTRAÇÃO AO VIVO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52500" y="3481388"/>
            <a:ext cx="6560061" cy="1438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66"/>
              </a:lnSpc>
              <a:buNone/>
            </a:pPr>
            <a:r>
              <a:rPr lang="en-US" sz="11250" b="1" spc="-337" kern="0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Hands-on.</a:t>
            </a:r>
            <a:endParaRPr lang="en-US" sz="11250" dirty="0"/>
          </a:p>
        </p:txBody>
      </p:sp>
      <p:sp>
        <p:nvSpPr>
          <p:cNvPr id="7" name="Shape 5"/>
          <p:cNvSpPr/>
          <p:nvPr/>
        </p:nvSpPr>
        <p:spPr>
          <a:xfrm>
            <a:off x="952500" y="5262563"/>
            <a:ext cx="10477500" cy="57150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5700713"/>
            <a:ext cx="12263438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846"/>
              </a:lnSpc>
              <a:buNone/>
            </a:pPr>
            <a:r>
              <a:rPr lang="en-US" sz="3000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Mão na massa: o agente rodando em um projeto real, do primeiro comando à spec gravada.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52500" y="8943975"/>
            <a:ext cx="1630263" cy="5810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181100" y="9077325"/>
            <a:ext cx="124926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custodia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2773263" y="8943975"/>
            <a:ext cx="2070199" cy="5810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001863" y="9077325"/>
            <a:ext cx="168919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>
                    <a:alpha val="87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/initialize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5033963" y="8943975"/>
            <a:ext cx="1337072" cy="5810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262563" y="9077325"/>
            <a:ext cx="95607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>
                    <a:alpha val="54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/infra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2026-07-31T12:44:15Z</dcterms:created>
  <dcterms:modified xsi:type="dcterms:W3CDTF">2026-07-31T12:44:15Z</dcterms:modified>
</cp:coreProperties>
</file>