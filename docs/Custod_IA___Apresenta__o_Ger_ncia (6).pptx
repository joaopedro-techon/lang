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 arquitetura de referência já existe; hoje falamos de como ela chega ao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existe e está acordado: padrões, ADRs e templates de referência.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Documento é passivo. A distância entre desenho e código é humana, e por isso varia.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ferramentas de mercado seguem conosco. O que falta é o padrão da casa aplicado por cima delas.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pergunta certa é onde a IA deve decidir. Coletar requisitos é decisão; escrever código é execução.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Solução própria sobre plataforma existente: LangGraph para orquestração, IaraGenAI como fundação.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LangGraph em uma frase: o comportamento do agente é declarado como grafo, não espalhado em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grafos no mesmo motor: um com LLM, dois sem token nenhum. O harness roteia cada pedido.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Demonstrar o terminal: texto solto conversa com LLM, comando com barra é determinístico.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agente decide quando consultar a base vetorial. Buscar sempre custa token e traz ruído.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Wizard determinístico até a spec; só depois dela o LLM escreve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limites são código, não recomendação no prompt. Cinco freios.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ganhos para a gerência e o que passamos a medir.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Já é instalável e versionado. Três horizontes.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estações entregues, duas previstas sem data. O calendário depende da capacidade acordada.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pedidos concretos: produto com dono, squads-piloto, espaço para apresentar às demais áreas.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a demonstração ao vivo: abrir o terminal e rodar o agente em um projeto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mundo lendo direto do Aurora RDS: contenção de I/O, custo crescente e risco ao core transacional.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Desacoplamento em quatro etapas: captura, landing, visão carteira e consumo.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Iceberg em quatro capacidades e a arquitetura em três camadas.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requisitos da visão carteira, e a resposta nativa do Iceberg para cada 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peça com uma responsabilidade: transacionar, propagar, armazenar e servir.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biblioteca interna que padroniza sessão Spark, catálogos Iceberg e relatórios.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passos de PySpark para fazer upsert na visão carteira.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Manutenção automática em uma chamada e relatório de performance ao fim de cada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Adoção gradual em três estágios: leitura, upsert e operação 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Fontes consultadas.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062038"/>
            <a:ext cx="838200" cy="95250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" name="Text 1"/>
          <p:cNvSpPr/>
          <p:nvPr/>
        </p:nvSpPr>
        <p:spPr>
          <a:xfrm>
            <a:off x="2019300" y="952500"/>
            <a:ext cx="642205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CUSTÓDIA DE ATIVOS PF · ENGENHARIA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3924300"/>
            <a:ext cx="14668500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576"/>
              </a:lnSpc>
              <a:buNone/>
            </a:pPr>
            <a:r>
              <a:rPr lang="en-US" sz="9600" b="1" spc="-192" kern="0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Do desenho ao código.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952500" y="5486400"/>
            <a:ext cx="11282363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300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Custod.IA — o agente que leva a arquitetura de referência até o repositório.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52500" y="9210675"/>
            <a:ext cx="382854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Python · LangGraph · IaraGenAI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966395" y="9210675"/>
            <a:ext cx="30283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Apresentação à gerência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ONDE CHEGAMOS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arquitetura de referência está estabelecida.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78894"/>
            <a:ext cx="13735050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Padrões de projeto, camadas, regra de dependência, decisões em ADR e o desenho do worker e da infraestrutura: definidos, registrados e acordados.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4127599"/>
            <a:ext cx="5206901" cy="3160216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4546699"/>
            <a:ext cx="488939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DEFINIDO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33500" y="5051524"/>
            <a:ext cx="4889391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Padrões e camadas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333500" y="5708749"/>
            <a:ext cx="4578248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Organização por camada, regra de dependência e contratos entre as peças.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540401" y="4127599"/>
            <a:ext cx="5207050" cy="3160216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0" name="Text 8"/>
          <p:cNvSpPr/>
          <p:nvPr/>
        </p:nvSpPr>
        <p:spPr>
          <a:xfrm>
            <a:off x="6921401" y="4546699"/>
            <a:ext cx="488955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REGISTRADO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921401" y="5051524"/>
            <a:ext cx="488955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ADRs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6921401" y="5708749"/>
            <a:ext cx="4578401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Decisões técnicas registradas com contexto e consequência, em vez de conhecimento tácito.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2128450" y="4127599"/>
            <a:ext cx="5207050" cy="3160216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4" name="Text 12"/>
          <p:cNvSpPr/>
          <p:nvPr/>
        </p:nvSpPr>
        <p:spPr>
          <a:xfrm>
            <a:off x="12509450" y="4546699"/>
            <a:ext cx="488955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MATERIALIZADO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509450" y="5051524"/>
            <a:ext cx="488955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Templates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2509450" y="5708749"/>
            <a:ext cx="4578401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Projetos-molde que mostram, em código, como o padrão se parece na prática.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52500" y="7821216"/>
            <a:ext cx="1362075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268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Resta a pergunta difícil: como esse desenho vira código, todo dia, em todo projeto?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PROBLEMA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Mapa não vira código sozinho.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78894"/>
            <a:ext cx="14225588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Documentação é passiva. Skill, playbook e guia dependem de alguém lembrar que existem, abrir, interpretar e aplicar — projeto a projeto, desenvolvedor a desenvolvedor, sprint a sprint.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4203799"/>
            <a:ext cx="561594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108"/>
              </a:lnSpc>
              <a:buNone/>
            </a:pPr>
            <a:r>
              <a:rPr lang="en-US" sz="48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52500" y="5022949"/>
            <a:ext cx="561594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915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distância é humana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500" y="5643860"/>
            <a:ext cx="5258562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Duas squads leem a mesma página e entregam dois projetos diferentes. O resultado depende de quem executa.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6591300" y="4203799"/>
            <a:ext cx="561594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108"/>
              </a:lnSpc>
              <a:buNone/>
            </a:pPr>
            <a:r>
              <a:rPr lang="en-US" sz="48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591300" y="5022949"/>
            <a:ext cx="561594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915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Conformidade vira auditoria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591300" y="5643860"/>
            <a:ext cx="5258562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Verificada depois, quando corrigir já é caro, em vez de garantida antes, quando ainda é barato.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2230100" y="4203799"/>
            <a:ext cx="561594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108"/>
              </a:lnSpc>
              <a:buNone/>
            </a:pPr>
            <a:r>
              <a:rPr lang="en-US" sz="48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2230100" y="5022949"/>
            <a:ext cx="561594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915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 custo recai sobre quem chega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2230100" y="5643860"/>
            <a:ext cx="5258562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Semanas até distinguir o que é padrão da casa do que é preferência do autor.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952500" y="7454950"/>
            <a:ext cx="13244513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268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É preciso estratégia e técnica para aplicar a arquitetura no código, não mais documentação sobre ela.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QUE FALTA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59"/>
              </a:lnSpc>
              <a:buNone/>
            </a:pPr>
            <a:r>
              <a:rPr lang="en-US" sz="4950" b="1" spc="-74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As ferramentas de mercado são boas — e seguem com a gente.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52500" y="2517130"/>
            <a:ext cx="14716125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Devin, Claude Code e os demais entregam valor real e seguem no nosso dia a dia. O que falta não é ferramenta melhor: é o padrão da casa aplicado por cima dela, em todo projeto novo.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3818186"/>
            <a:ext cx="7981950" cy="22458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4065836"/>
            <a:ext cx="810958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Contexto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57300" y="4656386"/>
            <a:ext cx="7593521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nossa arquitetura, as nossas ADRs e as nossas contas AWS não vêm de fábrica em ferramenta alguma. Alguém precisa colocá-las no caminho.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353550" y="3818186"/>
            <a:ext cx="7981950" cy="22458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658350" y="4065836"/>
            <a:ext cx="810958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Fronteira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658350" y="4656386"/>
            <a:ext cx="7593521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Parte do trabalho é decisão já tomada. Sem fronteira explícita, tudo vira interpretação — inclusive o que já era regra.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6254502"/>
            <a:ext cx="7981950" cy="22458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6502152"/>
            <a:ext cx="810958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Repetibilidade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257300" y="7092702"/>
            <a:ext cx="7593521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que é padrão precisa sair igual todas as vezes. Isso é propriedade de código, não de conversa.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353550" y="6254502"/>
            <a:ext cx="7981950" cy="22458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658350" y="6502152"/>
            <a:ext cx="810958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Reaproveitamento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658350" y="7092702"/>
            <a:ext cx="7593521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Um bom prompt resolve um projeto. Um harness resolve todos — e continua valendo quando o modelo, ou a ferramenta, mudar.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52500" y="8805118"/>
            <a:ext cx="1571625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268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harness não substitui as ferramentas: dá a elas o contexto e o trilho da nossa arquitetura.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VIRADA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6874490" cy="139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59"/>
              </a:lnSpc>
              <a:buNone/>
            </a:pPr>
            <a:r>
              <a:rPr lang="en-US" sz="4950" b="1" spc="-74" kern="0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pergunta não é qual ferramenta usar. É quando usar cada tipo de fluxo.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5420023" y="3967460"/>
            <a:ext cx="5729139" cy="28575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5" name="Text 3"/>
          <p:cNvSpPr/>
          <p:nvPr/>
        </p:nvSpPr>
        <p:spPr>
          <a:xfrm>
            <a:off x="5420023" y="3310235"/>
            <a:ext cx="5901013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Fluxo determinístico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11606361" y="3967460"/>
            <a:ext cx="5728990" cy="28575"/>
          </a:xfrm>
          <a:prstGeom prst="rect">
            <a:avLst/>
          </a:prstGeom>
          <a:solidFill>
            <a:srgbClr val="5B7FD1"/>
          </a:solidFill>
          <a:ln/>
        </p:spPr>
      </p:sp>
      <p:sp>
        <p:nvSpPr>
          <p:cNvPr id="7" name="Text 5"/>
          <p:cNvSpPr/>
          <p:nvPr/>
        </p:nvSpPr>
        <p:spPr>
          <a:xfrm>
            <a:off x="11606361" y="3310235"/>
            <a:ext cx="590086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Fluxo com LLM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952500" y="4491335"/>
            <a:ext cx="41306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Quem decide o passo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420023" y="4491335"/>
            <a:ext cx="5901013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código — arestas explícitas do grafo.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11606361" y="4491335"/>
            <a:ext cx="590086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modelo, a partir do contexto.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952500" y="5335191"/>
            <a:ext cx="41306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Mesma entrada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420023" y="5335191"/>
            <a:ext cx="5901013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Sempre a mesma saída.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11606361" y="5335191"/>
            <a:ext cx="590086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Saída não garantida.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952500" y="6179046"/>
            <a:ext cx="41306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Serve para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420023" y="6179046"/>
            <a:ext cx="5901013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Coletar requisitos, validar, configurar infraestrutura e gravar a decisão.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11606361" y="6179046"/>
            <a:ext cx="5900860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Interpretar texto livre, explicar o domínio e escrever código a partir de decisão já fechada.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952500" y="7796212"/>
            <a:ext cx="41306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Risco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420023" y="7796212"/>
            <a:ext cx="5901013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Nenhum. Custo de token: zero.</a:t>
            </a:r>
            <a:endParaRPr lang="en-US" sz="2175" dirty="0"/>
          </a:p>
        </p:txBody>
      </p:sp>
      <p:sp>
        <p:nvSpPr>
          <p:cNvPr id="19" name="Text 17"/>
          <p:cNvSpPr/>
          <p:nvPr/>
        </p:nvSpPr>
        <p:spPr>
          <a:xfrm>
            <a:off x="11606361" y="7796212"/>
            <a:ext cx="5900860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Alucinação e drift — por isso, sempre com freio.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952500" y="9064823"/>
            <a:ext cx="180213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268"/>
              </a:lnSpc>
              <a:buNone/>
            </a:pPr>
            <a:r>
              <a:rPr lang="en-US" sz="2400" b="1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harness é quem sabe a diferença e escolhe o trilho certo a cada passo. É daí que vem a assertividade.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DECISÃO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Construir o harness em casa, sobre o que o banco já tem.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78894"/>
            <a:ext cx="14225588" cy="1446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Estudamos o que existe no mercado e dentro do banco. A decisão foi por solução própria por um motivo específico: o harness é nosso — evolui no nosso ritmo e a mesma engine se reaproveita em outras soluções.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4559052"/>
            <a:ext cx="56717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MOTIVO 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5044827"/>
            <a:ext cx="567176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30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engine é ativo nosso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52500" y="5673477"/>
            <a:ext cx="5310835" cy="1640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Orquestração, guardrails, ferramentas e integração com a plataforma do banco ficam numa base que já serve à próxima solução, não só a esta.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6565850" y="4559052"/>
            <a:ext cx="56717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MOTIVO 02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565850" y="5044827"/>
            <a:ext cx="567176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30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Evolui na nossa agenda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565850" y="5673477"/>
            <a:ext cx="5310835" cy="1640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Uma necessidade nova da custódia vira feature quando decidirmos, com o contexto que só nós temos, sem depender de roadmap de terceiro.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2179201" y="4559052"/>
            <a:ext cx="56717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MOTIVO 03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179201" y="5044827"/>
            <a:ext cx="567176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30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Assenta sobre o IaraGenAI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2179201" y="5673477"/>
            <a:ext cx="5310835" cy="1640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Modelos democratizados, gateway autenticado e base vetorial já existem na casa. Consumimos a plataforma em vez de construir outra.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952500" y="7846963"/>
            <a:ext cx="1471612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268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Não construímos plataforma de IA nem substituímos ferramenta de codificação. Construímos o trilho que aplica a nossa arquitetura — reaproveitável por construção.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MOTOR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59"/>
              </a:lnSpc>
              <a:buNone/>
            </a:pPr>
            <a:r>
              <a:rPr lang="en-US" sz="4950" b="1" spc="-74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LangGraph, em uma frase: o fluxo do agente vira um diagrama.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52500" y="2517130"/>
            <a:ext cx="14716125" cy="1446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É uma biblioteca de orquestração. Em vez de ficar espalhado no código, o comportamento do agente é declarado como um grafo: caixas que fazem uma coisa cada e setas que dizem para onde ir depois.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4344888"/>
            <a:ext cx="7886700" cy="2350591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4649688"/>
            <a:ext cx="792099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Nó — uma caixa, um passo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5230713"/>
            <a:ext cx="7416927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Perguntar a fila, consultar a AWS, chamar o modelo, gravar a spec. Cada passo é isolado: dá para testar e trocar um sem mexer nos outros.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448800" y="4344888"/>
            <a:ext cx="7886700" cy="2350591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9" name="Text 7"/>
          <p:cNvSpPr/>
          <p:nvPr/>
        </p:nvSpPr>
        <p:spPr>
          <a:xfrm>
            <a:off x="9791700" y="4649688"/>
            <a:ext cx="792099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Aresta condicional — a regra visível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791700" y="5230713"/>
            <a:ext cx="7416927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"Se não confirmou, encerra sem gravar" é uma seta no diagrama, que se lê e se audita — não uma condicional perdida em duzentas linhas.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6962180"/>
            <a:ext cx="7886700" cy="2350591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266980"/>
            <a:ext cx="792099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Pausa e retomada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295400" y="7848005"/>
            <a:ext cx="7416927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grafo congela, descreve o que precisa saber e espera. Hoje quem responde é o terminal; amanhã pode ser uma tela web, sem tocar no fluxo.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448800" y="6962180"/>
            <a:ext cx="7886700" cy="2350591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5" name="Text 13"/>
          <p:cNvSpPr/>
          <p:nvPr/>
        </p:nvSpPr>
        <p:spPr>
          <a:xfrm>
            <a:off x="9791700" y="7266980"/>
            <a:ext cx="792099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Um motor só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791700" y="7848005"/>
            <a:ext cx="7416927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Fluxo determinístico e fluxo com LLM são grafos na mesma biblioteca. Uma forma de orquestrar, e a engine inteira reaproveitável.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GRAFO HOJE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59"/>
              </a:lnSpc>
              <a:buNone/>
            </a:pPr>
            <a:r>
              <a:rPr lang="en-US" sz="4950" b="1" spc="-74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 que já está desenhado e rodando.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52500" y="2479030"/>
            <a:ext cx="15206662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1"/>
              </a:lnSpc>
              <a:buNone/>
            </a:pPr>
            <a:r>
              <a:rPr lang="en-US" sz="24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Três grafos no mesmo motor. Um usa LLM; dois não consomem token algum — e é o harness que roteia cada pedido para o trilho certo.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52500" y="3705671"/>
            <a:ext cx="561594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Conversa · com LLM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52500" y="4324796"/>
            <a:ext cx="5105400" cy="5048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4439096"/>
            <a:ext cx="48775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952500" y="4982021"/>
            <a:ext cx="56159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5429696"/>
            <a:ext cx="5105400" cy="876300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5563046"/>
            <a:ext cx="51968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143000" y="5877371"/>
            <a:ext cx="51968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chama o modelo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2500" y="6458396"/>
            <a:ext cx="56159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↓ tool_call · ↑ resultado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6906071"/>
            <a:ext cx="5105400" cy="876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7039421"/>
            <a:ext cx="51968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143000" y="7353746"/>
            <a:ext cx="51968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executa e devolve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2500" y="7934771"/>
            <a:ext cx="56159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↓ sem tool_call → END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2500" y="8458646"/>
            <a:ext cx="5258562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03"/>
              </a:lnSpc>
              <a:buNone/>
            </a:pPr>
            <a:r>
              <a:rPr lang="en-US" sz="19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Ferramentas: ler e listar arquivos, escrever, rodar Maven e buscar na base de conhecimento.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591300" y="3705671"/>
            <a:ext cx="561594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/initialize · determinístico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591300" y="4324796"/>
            <a:ext cx="5105400" cy="5048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781800" y="4439096"/>
            <a:ext cx="17282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tipo_projeto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8448229" y="4439096"/>
            <a:ext cx="158423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app → END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6591300" y="4982021"/>
            <a:ext cx="5105400" cy="5048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781800" y="5096321"/>
            <a:ext cx="99268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gatilho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7793534" y="5096321"/>
            <a:ext cx="230423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schedule → END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6591300" y="5639246"/>
            <a:ext cx="5105400" cy="5048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781800" y="5753546"/>
            <a:ext cx="48775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 · vazão · dependências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6591300" y="6296471"/>
            <a:ext cx="5105400" cy="5048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781800" y="6410771"/>
            <a:ext cx="99268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revisar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7793534" y="6410771"/>
            <a:ext cx="158423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não → END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6591300" y="6953696"/>
            <a:ext cx="5105400" cy="50482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31" name="Text 29"/>
          <p:cNvSpPr/>
          <p:nvPr/>
        </p:nvSpPr>
        <p:spPr>
          <a:xfrm>
            <a:off x="6781800" y="7067996"/>
            <a:ext cx="48775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salvar → spec.json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6591300" y="7687121"/>
            <a:ext cx="5258562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03"/>
              </a:lnSpc>
              <a:buNone/>
            </a:pPr>
            <a:r>
              <a:rPr lang="en-US" sz="19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Nenhum nó chama modelo. Só o último escreve em disco: desistir em qualquer ponto não deixa rastro.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2230100" y="3705671"/>
            <a:ext cx="561594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/infra · determinístico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12230100" y="4324796"/>
            <a:ext cx="5105400" cy="5048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12420600" y="4439096"/>
            <a:ext cx="125462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ambientes</a:t>
            </a:r>
            <a:endParaRPr lang="en-US" sz="1875" dirty="0"/>
          </a:p>
        </p:txBody>
      </p:sp>
      <p:sp>
        <p:nvSpPr>
          <p:cNvPr id="36" name="Text 34"/>
          <p:cNvSpPr/>
          <p:nvPr/>
        </p:nvSpPr>
        <p:spPr>
          <a:xfrm>
            <a:off x="13694271" y="4439096"/>
            <a:ext cx="25923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dev · hom · prod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12230100" y="4982021"/>
            <a:ext cx="5105400" cy="5048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12420600" y="5096321"/>
            <a:ext cx="201626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validar_perfis</a:t>
            </a:r>
            <a:endParaRPr lang="en-US" sz="1875" dirty="0"/>
          </a:p>
        </p:txBody>
      </p:sp>
      <p:sp>
        <p:nvSpPr>
          <p:cNvPr id="39" name="Text 37"/>
          <p:cNvSpPr/>
          <p:nvPr/>
        </p:nvSpPr>
        <p:spPr>
          <a:xfrm>
            <a:off x="14348817" y="5096321"/>
            <a:ext cx="201626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falhou → END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2230100" y="5639246"/>
            <a:ext cx="5105400" cy="1323975"/>
          </a:xfrm>
          <a:prstGeom prst="rect">
            <a:avLst/>
          </a:prstGeom>
          <a:ln w="19050">
            <a:solidFill>
              <a:srgbClr val="EC700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2439650" y="5791646"/>
            <a:ext cx="515493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CICLO · UM AMBIENTE POR VEZ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2439650" y="6144071"/>
            <a:ext cx="482688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 → vpc → subnets → cidrs → filas → vazão → sts</a:t>
            </a:r>
            <a:endParaRPr lang="en-US" sz="1875" dirty="0"/>
          </a:p>
        </p:txBody>
      </p:sp>
      <p:sp>
        <p:nvSpPr>
          <p:cNvPr id="43" name="Shape 41"/>
          <p:cNvSpPr/>
          <p:nvPr/>
        </p:nvSpPr>
        <p:spPr>
          <a:xfrm>
            <a:off x="12230100" y="7115621"/>
            <a:ext cx="5105400" cy="50482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44" name="Text 42"/>
          <p:cNvSpPr/>
          <p:nvPr/>
        </p:nvSpPr>
        <p:spPr>
          <a:xfrm>
            <a:off x="12420600" y="7229921"/>
            <a:ext cx="48775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revisar → escrever</a:t>
            </a:r>
            <a:endParaRPr lang="en-US" sz="1875" dirty="0"/>
          </a:p>
        </p:txBody>
      </p:sp>
      <p:sp>
        <p:nvSpPr>
          <p:cNvPr id="45" name="Text 43"/>
          <p:cNvSpPr/>
          <p:nvPr/>
        </p:nvSpPr>
        <p:spPr>
          <a:xfrm>
            <a:off x="12230100" y="7849046"/>
            <a:ext cx="52585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03"/>
              </a:lnSpc>
              <a:buNone/>
            </a:pPr>
            <a:r>
              <a:rPr lang="en-US" sz="19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Quem chama a AWS nunca pausa: retomar uma sessão não refaz consulta de rede.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NA PRÁTICA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Custod.IA — o agente da custódia.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769394"/>
            <a:ext cx="7519940" cy="136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1"/>
              </a:lnSpc>
              <a:buNone/>
            </a:pPr>
            <a:r>
              <a:rPr lang="en-US" sz="24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desenvolvedor entra na pasta do repositório e executa o comando custodia. No mesmo lugar, dois modos de uso.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52500" y="4437906"/>
            <a:ext cx="8031004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Conversa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52500" y="5018931"/>
            <a:ext cx="751994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Texto livre, assistido por LLM e ancorado no nosso domínio.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952500" y="6162824"/>
            <a:ext cx="8031004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Comandos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52500" y="6743849"/>
            <a:ext cx="751994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Iniciados por barra: 100% determinísticos, sem improviso. A separação é deliberada e visível para quem usa.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8939213" y="2769394"/>
            <a:ext cx="8396139" cy="4944666"/>
          </a:xfrm>
          <a:prstGeom prst="rect">
            <a:avLst/>
          </a:prstGeom>
          <a:solidFill>
            <a:srgbClr val="0F1420"/>
          </a:solidFill>
          <a:ln/>
        </p:spPr>
      </p:sp>
      <p:sp>
        <p:nvSpPr>
          <p:cNvPr id="10" name="Text 8"/>
          <p:cNvSpPr/>
          <p:nvPr/>
        </p:nvSpPr>
        <p:spPr>
          <a:xfrm>
            <a:off x="9377363" y="3188494"/>
            <a:ext cx="7745434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5B7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══════════════════════════════════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377363" y="3597027"/>
            <a:ext cx="7745434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5B7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Custod.IA 0.2.0 · agente da custódia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377363" y="4005560"/>
            <a:ext cx="7745434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5B7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══════════════════════════════════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377363" y="4623643"/>
            <a:ext cx="212378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EC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27840" y="4623643"/>
            <a:ext cx="5750019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D8E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 é o padrão de retry do listener SQS?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377363" y="5241727"/>
            <a:ext cx="7745434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8FD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buscar_conhecimento — consulta a KB da arquitetura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377363" y="5650260"/>
            <a:ext cx="7745434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9FB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resposta ancorada no documento, com a fonte citada.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377363" y="6268343"/>
            <a:ext cx="212378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EC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627840" y="6268343"/>
            <a:ext cx="1574006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D8E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/initialize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239946" y="6268343"/>
            <a:ext cx="4768331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9FB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wizard determinístico — zero token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377363" y="6886426"/>
            <a:ext cx="212378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EC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627840" y="6886426"/>
            <a:ext cx="893266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D8E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/infra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559207" y="6886426"/>
            <a:ext cx="6170808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9FB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dev, hom e prod — lendo a AWS real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ENTREGA 01 · RAG DA ARQUITETURA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arquitetura de referência, respondendo.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78894"/>
            <a:ext cx="14225588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agente avalia se precisa consultar a base vetorial antes de responder. Não busca sempre: buscar sempre custa token e traz ruído.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4127599"/>
            <a:ext cx="863346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base é a do banco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52500" y="4708624"/>
            <a:ext cx="8084058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indexação vem da solução interna de embedding do IaraGenAI; o agente consome a Knowledge Base, sem índice paralelo.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9486900" y="4127599"/>
            <a:ext cx="863346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decisão de buscar é do agente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486900" y="4708624"/>
            <a:ext cx="8084058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É aqui que a IA agrega valor: julgar se a pergunta trata do nosso padrão ou de Java genérico.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952500" y="6329214"/>
            <a:ext cx="863346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resposta vem ancorada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52500" y="6910239"/>
            <a:ext cx="8084058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No nosso documento, com a fonte citada, e não no treinamento do modelo.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9486900" y="6329214"/>
            <a:ext cx="863346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 efeito prático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486900" y="6910239"/>
            <a:ext cx="8084058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arquitetura deixa de ser um documento a ser aberto e passa a responder onde o desenvolvedor está: o terminal.</a:t>
            </a:r>
            <a:endParaRPr lang="en-US" sz="21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ENTREGA 02 · STARTER DE PROJETOS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Um projeto novo que nasce dentro do padrão.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2807494"/>
            <a:ext cx="3924300" cy="21468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276350" y="3112294"/>
            <a:ext cx="36042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7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/initialize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76350" y="3569494"/>
            <a:ext cx="360426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determinístico, sem LLM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5105400" y="2807494"/>
            <a:ext cx="3924300" cy="21468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429250" y="3112294"/>
            <a:ext cx="36042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7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spec.json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429250" y="3569494"/>
            <a:ext cx="3374898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decisão versionada e revisável em PR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9258300" y="2807494"/>
            <a:ext cx="3924300" cy="21468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582150" y="3112294"/>
            <a:ext cx="36042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7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/infra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582150" y="3569494"/>
            <a:ext cx="3374898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terraform de dev, hom e prod com dados reais da conta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3411200" y="2807494"/>
            <a:ext cx="3924300" cy="2146846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14" name="Text 12"/>
          <p:cNvSpPr/>
          <p:nvPr/>
        </p:nvSpPr>
        <p:spPr>
          <a:xfrm>
            <a:off x="13735050" y="3112294"/>
            <a:ext cx="36042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A6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/generate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3735050" y="3569494"/>
            <a:ext cx="3374898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aqui, sim, o LLM escreve — a partir da spec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952500" y="5563939"/>
            <a:ext cx="561594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Oferece o que existe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52500" y="6106864"/>
            <a:ext cx="5258562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Cluster, VPC, subnets e filas são listados a partir da conta, em vez de digitados de memória.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591300" y="5563939"/>
            <a:ext cx="561594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Autoscaling calculado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6591300" y="6106864"/>
            <a:ext cx="5258562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Fórmula sobre vazão, concorrência e tempo de processamento, com o cálculo exibido antes de gravar.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230100" y="5563939"/>
            <a:ext cx="561594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Nada antes da confirmação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2230100" y="6106864"/>
            <a:ext cx="5258562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Toda escrita depende de confirmação explícita. Cancelar não deixa rastro no projeto.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GOVERNANÇA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Onde a IA entra, ela entra com freio.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78894"/>
            <a:ext cx="14225588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diferença entre um agente de mercado e um agente da casa: aqui os limites são código, não recomendação em prompt.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4203799"/>
            <a:ext cx="32689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52500" y="4908649"/>
            <a:ext cx="326898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59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spec é a fronteira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52500" y="5445770"/>
            <a:ext cx="3060954" cy="190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Antes dela, tudo é determinístico. Depois dela, um erro do modelo é erro de código, nunca de decisão.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4305300" y="4203799"/>
            <a:ext cx="32689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305300" y="4908649"/>
            <a:ext cx="326898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59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Human-in-the-loop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305300" y="5445770"/>
            <a:ext cx="3060954" cy="190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Toda escrita em arquivo e todo comando de build param e pedem aprovação, com o conteúdo na tela.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7658100" y="4203799"/>
            <a:ext cx="32689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658100" y="4908649"/>
            <a:ext cx="326898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59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Sandbox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658100" y="5445770"/>
            <a:ext cx="3060954" cy="1529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As ferramentas do agente estão presas à pasta do projeto. Ele não escapa dela.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1010900" y="4203799"/>
            <a:ext cx="32689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04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1010900" y="4908649"/>
            <a:ext cx="326898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59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Só leitura na nuvem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010900" y="5445770"/>
            <a:ext cx="3060954" cy="190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agente consulta a AWS e nunca aplica. Quem aplica é o Terraform, pelo pipeline e pelas aprovações de sempre.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4363700" y="4203799"/>
            <a:ext cx="32689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05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4363700" y="4908649"/>
            <a:ext cx="326898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59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Decisão auditável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363700" y="5445770"/>
            <a:ext cx="3060954" cy="1529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spec.json vai para o repositório e é revisada em PR, separada do código gerado.</a:t>
            </a:r>
            <a:endParaRPr lang="en-US" sz="20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QUE MUDA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 que muda para a gerência.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2807494"/>
            <a:ext cx="7924800" cy="25259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352550" y="3169444"/>
            <a:ext cx="78371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CONFORMIDADE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52550" y="3617119"/>
            <a:ext cx="783717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Padrão por construção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352550" y="4198144"/>
            <a:ext cx="7338441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projeto nasce aderente à arquitetura. A revisão deixa de procurar desvios e passa a discutir negócio.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410700" y="2807494"/>
            <a:ext cx="7924800" cy="25259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810750" y="3169444"/>
            <a:ext cx="78371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CUSTO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810750" y="3617119"/>
            <a:ext cx="783717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Token onde faz diferença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810750" y="4198144"/>
            <a:ext cx="7338441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que é regra vira código e custa zero. O modelo é acionado apenas onde há julgamento a fazer.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52500" y="5638205"/>
            <a:ext cx="7924800" cy="25259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352550" y="6000155"/>
            <a:ext cx="78371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TEMPO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52550" y="6447830"/>
            <a:ext cx="783717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Setup em minutos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352550" y="7028855"/>
            <a:ext cx="7338441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Configurar projeto e infraestrutura deixa de consumir uma semana de adaptação entre repositórios.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410700" y="5638205"/>
            <a:ext cx="7924800" cy="25259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9810750" y="6000155"/>
            <a:ext cx="78371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CONHECIMENTO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810750" y="6447830"/>
            <a:ext cx="783717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Padrão que não evapora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810750" y="7028855"/>
            <a:ext cx="7338441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arquitetura fica no agente, e não apenas com quem a escreveu. Quem chega já produz dentro do padrão.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52500" y="8621316"/>
            <a:ext cx="15697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26"/>
              </a:lnSpc>
              <a:buNone/>
            </a:pPr>
            <a:r>
              <a:rPr lang="en-US" sz="225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Métricas a acompanhar a partir daqui: tempo até o primeiro deploy, desvios de arquitetura encontrados em revisão e custo de token por projeto configurado.</a:t>
            </a:r>
            <a:endParaRPr lang="en-US" sz="2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VISÃO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Custod.IA não é um script. É um produto.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78894"/>
            <a:ext cx="14716125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Já é instalável, versionado e distribuído internamente pelo Artifactory do banco, via pip install custodia-cli. Tem versão, release e usuários. Falta tratá-lo como produto na agenda da área.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4165699"/>
            <a:ext cx="56159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HORIZONTE 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4651474"/>
            <a:ext cx="561594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Evoluir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52500" y="5365849"/>
            <a:ext cx="5258562" cy="1640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Fechar o ciclo: geração do pom.xml e do listener a partir da spec, suporte a App e Schedule além do Worker e retomada de sessão interrompida.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6591300" y="4165699"/>
            <a:ext cx="56159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HORIZONTE 02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591300" y="4651474"/>
            <a:ext cx="561594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Democratizar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591300" y="5365849"/>
            <a:ext cx="5258562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Toda a custódia usando: onboarding das squads, documentação viva e coleta de uso para priorizar o backlog com dado.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2230100" y="4165699"/>
            <a:ext cx="56159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HORIZONTE 03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230100" y="4651474"/>
            <a:ext cx="561594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Expandir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2230100" y="5365849"/>
            <a:ext cx="5258562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Além da custódia: o motor é o mesmo. Trocar o domínio e a arquitetura de referência atende outras áreas.</a:t>
            </a:r>
            <a:endParaRPr lang="en-US" sz="21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LINHA DO TEMPO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59"/>
              </a:lnSpc>
              <a:buNone/>
            </a:pPr>
            <a:r>
              <a:rPr lang="en-US" sz="4950" b="1" spc="-74" kern="0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 caminho já está desenhado. A data, ainda não.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952500" y="2936230"/>
            <a:ext cx="247650" cy="247650"/>
          </a:xfrm>
          <a:prstGeom prst="ellipse">
            <a:avLst/>
          </a:prstGeom>
          <a:solidFill>
            <a:srgbClr val="EC7000"/>
          </a:solidFill>
          <a:ln/>
        </p:spPr>
      </p:sp>
      <p:sp>
        <p:nvSpPr>
          <p:cNvPr id="5" name="Shape 3"/>
          <p:cNvSpPr/>
          <p:nvPr/>
        </p:nvSpPr>
        <p:spPr>
          <a:xfrm>
            <a:off x="1200150" y="3041005"/>
            <a:ext cx="2785021" cy="38100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3393430"/>
            <a:ext cx="333593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Fundação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52500" y="4012555"/>
            <a:ext cx="33359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ENTREGUE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952500" y="4526905"/>
            <a:ext cx="3123651" cy="190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CLI distribuída pelo Artifactory, conversa sobre o domínio, guardrails de aprovação e sandbox.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4289971" y="2936230"/>
            <a:ext cx="247650" cy="247650"/>
          </a:xfrm>
          <a:prstGeom prst="ellipse">
            <a:avLst/>
          </a:prstGeom>
          <a:solidFill>
            <a:srgbClr val="EC7000"/>
          </a:solidFill>
          <a:ln/>
        </p:spPr>
      </p:sp>
      <p:sp>
        <p:nvSpPr>
          <p:cNvPr id="10" name="Shape 8"/>
          <p:cNvSpPr/>
          <p:nvPr/>
        </p:nvSpPr>
        <p:spPr>
          <a:xfrm>
            <a:off x="4537621" y="3041005"/>
            <a:ext cx="2785170" cy="38100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11" name="Text 9"/>
          <p:cNvSpPr/>
          <p:nvPr/>
        </p:nvSpPr>
        <p:spPr>
          <a:xfrm>
            <a:off x="4289971" y="3393430"/>
            <a:ext cx="333610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RAG da arquitetura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4289971" y="4012555"/>
            <a:ext cx="33361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ENTREGUE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4289971" y="4526905"/>
            <a:ext cx="3123804" cy="1156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agente decide quando consultar a base vetorial no IaraGenAI.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7627590" y="2936230"/>
            <a:ext cx="247650" cy="24765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EC7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75240" y="3041005"/>
            <a:ext cx="2785021" cy="381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16" name="Text 14"/>
          <p:cNvSpPr/>
          <p:nvPr/>
        </p:nvSpPr>
        <p:spPr>
          <a:xfrm>
            <a:off x="7627590" y="3393430"/>
            <a:ext cx="3123651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Starter e infraestrutura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7627590" y="4422130"/>
            <a:ext cx="312365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ENTREGUE · ESTAMOS AQUI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7627590" y="5241280"/>
            <a:ext cx="3123651" cy="1529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Wizard determinístico da spec e Terraform de dev, hom e prod com contas AWS reais.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10965061" y="2936230"/>
            <a:ext cx="247650" cy="247650"/>
          </a:xfrm>
          <a:prstGeom prst="ellipse">
            <a:avLst/>
          </a:prstGeom>
          <a:ln w="38100">
            <a:solidFill>
              <a:srgbClr val="5B7F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12711" y="3041005"/>
            <a:ext cx="2785170" cy="381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/>
        </p:spPr>
      </p:sp>
      <p:sp>
        <p:nvSpPr>
          <p:cNvPr id="21" name="Text 19"/>
          <p:cNvSpPr/>
          <p:nvPr/>
        </p:nvSpPr>
        <p:spPr>
          <a:xfrm>
            <a:off x="10965061" y="3393430"/>
            <a:ext cx="333610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9FB6E8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Geração do código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0965061" y="4012555"/>
            <a:ext cx="33361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PREVISTO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0965061" y="4526905"/>
            <a:ext cx="3123804" cy="1529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pom.xml e listener escritos a partir da spec; Worker acompanhado por App e Schedule.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14302680" y="2936230"/>
            <a:ext cx="247650" cy="247650"/>
          </a:xfrm>
          <a:prstGeom prst="ellipse">
            <a:avLst/>
          </a:prstGeom>
          <a:ln w="38100">
            <a:solidFill>
              <a:srgbClr val="5B7F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302680" y="3393430"/>
            <a:ext cx="333593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9FB6E8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Piloto e expansão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302680" y="4012555"/>
            <a:ext cx="33359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PREVISTO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4302680" y="4526905"/>
            <a:ext cx="3123651" cy="190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Squads-piloto na custódia, métricas de uso e o motor levado a outras áreas com arquitetura própria.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952500" y="7304038"/>
            <a:ext cx="15697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26"/>
              </a:lnSpc>
              <a:buNone/>
            </a:pPr>
            <a:r>
              <a:rPr lang="en-US" sz="2250" b="1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sequência está priorizada; o calendário depende da capacidade acordada. Assumir prazo antes de acordar capacidade é o que transforma a iniciativa em dívida.</a:t>
            </a:r>
            <a:endParaRPr lang="en-US" sz="2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C7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PEDIDO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Esta é a próxima etapa do que já construímos.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997994"/>
            <a:ext cx="56717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3702844"/>
            <a:ext cx="5671765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061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Reconhecer como produto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52500" y="4308574"/>
            <a:ext cx="5310835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A1C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Com dono, backlog e espaço na capacidade do time, e não como iniciativa paralela.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6565850" y="2997994"/>
            <a:ext cx="56717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02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565850" y="3702844"/>
            <a:ext cx="5671765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061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Squads-piloto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565850" y="4308574"/>
            <a:ext cx="5310835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A1C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Nos próximos projetos novos da custódia, com acompanhamento das métricas acordadas.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12179201" y="2997994"/>
            <a:ext cx="56717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03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2179201" y="3702844"/>
            <a:ext cx="5671765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061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Espaço nas demais áreas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179201" y="4308574"/>
            <a:ext cx="5310835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A1C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Começando pelas que já têm arquitetura de referência escrita e o mesmo problema de aplicá-la.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952500" y="6233964"/>
            <a:ext cx="1571625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91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arquitetura de referência já existe. A Custod.IA é como ela chega ao código.</a:t>
            </a:r>
            <a:endParaRPr lang="en-US" sz="3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5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4301974"/>
            <a:ext cx="18288000" cy="857250"/>
          </a:xfrm>
          <a:prstGeom prst="rect">
            <a:avLst/>
          </a:prstGeom>
          <a:gradFill rotWithShape="1">
            <a:gsLst>
              <a:gs pos="0">
                <a:srgbClr val="EC7000">
                  <a:alpha val="0"/>
                </a:srgbClr>
              </a:gs>
              <a:gs pos="100000">
                <a:srgbClr val="EC7000">
                  <a:alpha val="1800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952500" y="1062038"/>
            <a:ext cx="838200" cy="95250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5" name="Text 3"/>
          <p:cNvSpPr/>
          <p:nvPr/>
        </p:nvSpPr>
        <p:spPr>
          <a:xfrm>
            <a:off x="2019300" y="952500"/>
            <a:ext cx="421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DEMONSTRAÇÃO AO VIVO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3481388"/>
            <a:ext cx="6560061" cy="1438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66"/>
              </a:lnSpc>
              <a:buNone/>
            </a:pPr>
            <a:r>
              <a:rPr lang="en-US" sz="11250" b="1" spc="-337" kern="0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Hands-on.</a:t>
            </a:r>
            <a:endParaRPr lang="en-US" sz="11250" dirty="0"/>
          </a:p>
        </p:txBody>
      </p:sp>
      <p:sp>
        <p:nvSpPr>
          <p:cNvPr id="7" name="Text 5"/>
          <p:cNvSpPr/>
          <p:nvPr/>
        </p:nvSpPr>
        <p:spPr>
          <a:xfrm>
            <a:off x="6992392" y="3481388"/>
            <a:ext cx="790575" cy="1438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66"/>
              </a:lnSpc>
              <a:buNone/>
            </a:pPr>
            <a:r>
              <a:rPr lang="en-US" sz="1125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_</a:t>
            </a:r>
            <a:endParaRPr lang="en-US" sz="11250" dirty="0"/>
          </a:p>
        </p:txBody>
      </p:sp>
      <p:sp>
        <p:nvSpPr>
          <p:cNvPr id="8" name="Shape 6"/>
          <p:cNvSpPr/>
          <p:nvPr/>
        </p:nvSpPr>
        <p:spPr>
          <a:xfrm>
            <a:off x="952500" y="5262563"/>
            <a:ext cx="10477500" cy="57150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5700713"/>
            <a:ext cx="12263438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46"/>
              </a:lnSpc>
              <a:buNone/>
            </a:pPr>
            <a:r>
              <a:rPr lang="en-US" sz="300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Mão na massa: o agente rodando em um projeto real, do primeiro comando à spec gravada.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52500" y="8943975"/>
            <a:ext cx="1630263" cy="5810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9077325"/>
            <a:ext cx="124926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>
                    <a:alpha val="49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custodia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2773263" y="8943975"/>
            <a:ext cx="2070199" cy="58102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001863" y="9077325"/>
            <a:ext cx="168919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>
                    <a:alpha val="3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/initialize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033963" y="8943975"/>
            <a:ext cx="1337072" cy="5810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262563" y="9077325"/>
            <a:ext cx="95607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>
                    <a:alpha val="48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/infra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PROBLEMA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Contenção no banco de dados.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40794"/>
            <a:ext cx="14716125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Múltiplos processos concorrem diretamente no Aurora RDS: contenção de escrita, instabilidade e custo crescente.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3860899"/>
            <a:ext cx="824153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CENÁRIO ATUAL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52500" y="4346674"/>
            <a:ext cx="3679478" cy="676275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7" name="Text 5"/>
          <p:cNvSpPr/>
          <p:nvPr/>
        </p:nvSpPr>
        <p:spPr>
          <a:xfrm>
            <a:off x="1162050" y="4518124"/>
            <a:ext cx="337076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Processo de Convivência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4765328" y="4346674"/>
            <a:ext cx="3679478" cy="676275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9" name="Text 7"/>
          <p:cNvSpPr/>
          <p:nvPr/>
        </p:nvSpPr>
        <p:spPr>
          <a:xfrm>
            <a:off x="4974878" y="4518124"/>
            <a:ext cx="337076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Serviços Contábeis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952500" y="5156299"/>
            <a:ext cx="3679478" cy="676275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1" name="Text 9"/>
          <p:cNvSpPr/>
          <p:nvPr/>
        </p:nvSpPr>
        <p:spPr>
          <a:xfrm>
            <a:off x="1162050" y="5327749"/>
            <a:ext cx="337076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Democratização de Dados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4765328" y="5156299"/>
            <a:ext cx="3679478" cy="676275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3" name="Text 11"/>
          <p:cNvSpPr/>
          <p:nvPr/>
        </p:nvSpPr>
        <p:spPr>
          <a:xfrm>
            <a:off x="4974878" y="5327749"/>
            <a:ext cx="337076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Gestão de Carteira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577885" y="6004024"/>
            <a:ext cx="824153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↓ ↓ ↓ ↓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52500" y="6537424"/>
            <a:ext cx="7492305" cy="1162050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16" name="Text 14"/>
          <p:cNvSpPr/>
          <p:nvPr/>
        </p:nvSpPr>
        <p:spPr>
          <a:xfrm>
            <a:off x="3883670" y="6746974"/>
            <a:ext cx="179279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Aurora RDS</a:t>
            </a:r>
            <a:endParaRPr lang="en-US" sz="2475" dirty="0"/>
          </a:p>
        </p:txBody>
      </p:sp>
      <p:sp>
        <p:nvSpPr>
          <p:cNvPr id="17" name="Text 15"/>
          <p:cNvSpPr/>
          <p:nvPr/>
        </p:nvSpPr>
        <p:spPr>
          <a:xfrm>
            <a:off x="2541240" y="7185124"/>
            <a:ext cx="47461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FE6CC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core transacional, sob pressão de leitura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9054405" y="3860899"/>
            <a:ext cx="91090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IMPACTOS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054405" y="4308574"/>
            <a:ext cx="8280946" cy="1316236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20" name="Text 18"/>
          <p:cNvSpPr/>
          <p:nvPr/>
        </p:nvSpPr>
        <p:spPr>
          <a:xfrm>
            <a:off x="9283005" y="4441924"/>
            <a:ext cx="860612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Competição por I/O em pico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283005" y="4822924"/>
            <a:ext cx="8058458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Todos os consumidores disputam os mesmos recursos ao mesmo tempo.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054405" y="5758160"/>
            <a:ext cx="8280946" cy="981968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23" name="Text 21"/>
          <p:cNvSpPr/>
          <p:nvPr/>
        </p:nvSpPr>
        <p:spPr>
          <a:xfrm>
            <a:off x="9283005" y="5891510"/>
            <a:ext cx="860612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Custo excessivo do Aurora RDS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283005" y="6272510"/>
            <a:ext cx="860612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leitura intensiva eleva o custo continuamente.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054405" y="6873478"/>
            <a:ext cx="8280946" cy="1316236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26" name="Text 24"/>
          <p:cNvSpPr/>
          <p:nvPr/>
        </p:nvSpPr>
        <p:spPr>
          <a:xfrm>
            <a:off x="9283005" y="7006828"/>
            <a:ext cx="860612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Risco ao core transacional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9283005" y="7387828"/>
            <a:ext cx="8058458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Leituras analíticas não isoladas degradam o processamento de crédito.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054405" y="8323064"/>
            <a:ext cx="8280946" cy="981968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29" name="Text 27"/>
          <p:cNvSpPr/>
          <p:nvPr/>
        </p:nvSpPr>
        <p:spPr>
          <a:xfrm>
            <a:off x="9283005" y="8456414"/>
            <a:ext cx="860612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Expansão bloqueada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9283005" y="8837414"/>
            <a:ext cx="860612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Mudar o banco afeta todos os consumidores plugados nele.</a:t>
            </a:r>
            <a:endParaRPr lang="en-US" sz="1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SOLUÇÃO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Data Mesh da custódia.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40794"/>
            <a:ext cx="15206662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Os consumidores são desacoplados do banco transacional: apenas dados commitados trafegam via Kinesis Firehose para o S3, formando uma base SoR imutável e particionada por evento.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4013299"/>
            <a:ext cx="42538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52500" y="4699099"/>
            <a:ext cx="425386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Captura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52500" y="5318224"/>
            <a:ext cx="3983165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Kinesis Firehose captura somente o que foi commitado no Aurora RDS.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124450" y="4013299"/>
            <a:ext cx="42538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124450" y="4699099"/>
            <a:ext cx="425386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Landing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5124450" y="5318224"/>
            <a:ext cx="3983165" cy="158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Os dados chegam ao S3 em partições diárias, com apenas os registros do dia — a base SoR.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296400" y="4013299"/>
            <a:ext cx="42538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9296400" y="4699099"/>
            <a:ext cx="425386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Visão carteira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296400" y="5318224"/>
            <a:ext cx="3983165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Tabelas Iceberg consolidam a última posição de todas as operações de crédito.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468350" y="4013299"/>
            <a:ext cx="42538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04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3468350" y="4699099"/>
            <a:ext cx="425386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Consumo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3468350" y="5318224"/>
            <a:ext cx="3983165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Os times consomem pelo AWS Glue, sem nenhuma pressão sobre o Aurora RDS.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52500" y="7360146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268"/>
              </a:lnSpc>
              <a:buNone/>
            </a:pPr>
            <a:r>
              <a:rPr lang="en-US" sz="2400" b="1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Benefício imediato: redução de custo do Aurora RDS e eliminação da contenção de escrita.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FUNDAMENTO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59"/>
              </a:lnSpc>
              <a:buNone/>
            </a:pPr>
            <a:r>
              <a:rPr lang="en-US" sz="4950" b="1" spc="-74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Apache Iceberg — o formato aberto de tabelas.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52500" y="2479030"/>
            <a:ext cx="15206662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Traz confiabilidade de banco relacional para dados em escala de data lake, sem abrir mão da abertura e da flexibilidade do S3.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3875336"/>
            <a:ext cx="4439543" cy="163443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4103936"/>
            <a:ext cx="429675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ACID transacional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1219200" y="4561136"/>
            <a:ext cx="4023327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Isolamento serializável: leitores nunca veem alterações parciais.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582543" y="3875336"/>
            <a:ext cx="4439543" cy="163443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9" name="Text 7"/>
          <p:cNvSpPr/>
          <p:nvPr/>
        </p:nvSpPr>
        <p:spPr>
          <a:xfrm>
            <a:off x="5849243" y="4103936"/>
            <a:ext cx="429675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Schema evolution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5849243" y="4561136"/>
            <a:ext cx="4023327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Adicionar, remover e renomear colunas sem reescrever dados.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52500" y="5700266"/>
            <a:ext cx="4439543" cy="163443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2" name="Text 10"/>
          <p:cNvSpPr/>
          <p:nvPr/>
        </p:nvSpPr>
        <p:spPr>
          <a:xfrm>
            <a:off x="1219200" y="5928866"/>
            <a:ext cx="429675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Hidden partitioning</a:t>
            </a:r>
            <a:endParaRPr lang="en-US" sz="2325" dirty="0"/>
          </a:p>
        </p:txBody>
      </p:sp>
      <p:sp>
        <p:nvSpPr>
          <p:cNvPr id="13" name="Text 11"/>
          <p:cNvSpPr/>
          <p:nvPr/>
        </p:nvSpPr>
        <p:spPr>
          <a:xfrm>
            <a:off x="1219200" y="6386066"/>
            <a:ext cx="4023327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engine gerencia partições — sem filtros manuais obrigatórios.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5582543" y="5700266"/>
            <a:ext cx="4439543" cy="163443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5" name="Text 13"/>
          <p:cNvSpPr/>
          <p:nvPr/>
        </p:nvSpPr>
        <p:spPr>
          <a:xfrm>
            <a:off x="5849243" y="5928866"/>
            <a:ext cx="429675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Time travel e rollback</a:t>
            </a:r>
            <a:endParaRPr lang="en-US" sz="2325" dirty="0"/>
          </a:p>
        </p:txBody>
      </p:sp>
      <p:sp>
        <p:nvSpPr>
          <p:cNvPr id="16" name="Text 14"/>
          <p:cNvSpPr/>
          <p:nvPr/>
        </p:nvSpPr>
        <p:spPr>
          <a:xfrm>
            <a:off x="5849243" y="6386066"/>
            <a:ext cx="4023327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Consultas reprodutíveis por snapshot e reversão de estado.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0631686" y="3875336"/>
            <a:ext cx="737419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ENGINES COMPATÍVEIS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0631686" y="4323011"/>
            <a:ext cx="1001316" cy="52387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19" name="Text 17"/>
          <p:cNvSpPr/>
          <p:nvPr/>
        </p:nvSpPr>
        <p:spPr>
          <a:xfrm>
            <a:off x="10803136" y="4418261"/>
            <a:ext cx="73461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Spark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1747302" y="4323011"/>
            <a:ext cx="938064" cy="52387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21" name="Text 19"/>
          <p:cNvSpPr/>
          <p:nvPr/>
        </p:nvSpPr>
        <p:spPr>
          <a:xfrm>
            <a:off x="11918752" y="4418261"/>
            <a:ext cx="67136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Trino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12799665" y="4323011"/>
            <a:ext cx="893564" cy="52387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23" name="Text 21"/>
          <p:cNvSpPr/>
          <p:nvPr/>
        </p:nvSpPr>
        <p:spPr>
          <a:xfrm>
            <a:off x="12971115" y="4418261"/>
            <a:ext cx="62686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Flink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13807529" y="4323011"/>
            <a:ext cx="1084957" cy="52387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25" name="Text 23"/>
          <p:cNvSpPr/>
          <p:nvPr/>
        </p:nvSpPr>
        <p:spPr>
          <a:xfrm>
            <a:off x="13978979" y="4418261"/>
            <a:ext cx="81825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Presto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15006786" y="4323011"/>
            <a:ext cx="850404" cy="52387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27" name="Text 25"/>
          <p:cNvSpPr/>
          <p:nvPr/>
        </p:nvSpPr>
        <p:spPr>
          <a:xfrm>
            <a:off x="15178236" y="4418261"/>
            <a:ext cx="58370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Hive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15971490" y="4323011"/>
            <a:ext cx="1119634" cy="52387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29" name="Text 27"/>
          <p:cNvSpPr/>
          <p:nvPr/>
        </p:nvSpPr>
        <p:spPr>
          <a:xfrm>
            <a:off x="16142940" y="4418261"/>
            <a:ext cx="85293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Impala</a:t>
            </a:r>
            <a:endParaRPr lang="en-US" sz="2025" dirty="0"/>
          </a:p>
        </p:txBody>
      </p:sp>
      <p:sp>
        <p:nvSpPr>
          <p:cNvPr id="30" name="Text 28"/>
          <p:cNvSpPr/>
          <p:nvPr/>
        </p:nvSpPr>
        <p:spPr>
          <a:xfrm>
            <a:off x="10631686" y="5075486"/>
            <a:ext cx="737419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TRÊS CAMADAS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0631686" y="5523161"/>
            <a:ext cx="19907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Catalog layer</a:t>
            </a:r>
            <a:endParaRPr lang="en-US" sz="2175" dirty="0"/>
          </a:p>
        </p:txBody>
      </p:sp>
      <p:sp>
        <p:nvSpPr>
          <p:cNvPr id="32" name="Text 30"/>
          <p:cNvSpPr/>
          <p:nvPr/>
        </p:nvSpPr>
        <p:spPr>
          <a:xfrm>
            <a:off x="12593836" y="5542211"/>
            <a:ext cx="403645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registro de tabelas no AWS Glue</a:t>
            </a:r>
            <a:endParaRPr lang="en-US" sz="2025" dirty="0"/>
          </a:p>
        </p:txBody>
      </p:sp>
      <p:sp>
        <p:nvSpPr>
          <p:cNvPr id="33" name="Text 31"/>
          <p:cNvSpPr/>
          <p:nvPr/>
        </p:nvSpPr>
        <p:spPr>
          <a:xfrm>
            <a:off x="10631686" y="5970836"/>
            <a:ext cx="212726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Metadata layer</a:t>
            </a:r>
            <a:endParaRPr lang="en-US" sz="2175" dirty="0"/>
          </a:p>
        </p:txBody>
      </p:sp>
      <p:sp>
        <p:nvSpPr>
          <p:cNvPr id="34" name="Text 32"/>
          <p:cNvSpPr/>
          <p:nvPr/>
        </p:nvSpPr>
        <p:spPr>
          <a:xfrm>
            <a:off x="12717959" y="5989886"/>
            <a:ext cx="417266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manifests e snapshots de estado</a:t>
            </a:r>
            <a:endParaRPr lang="en-US" sz="2025" dirty="0"/>
          </a:p>
        </p:txBody>
      </p:sp>
      <p:sp>
        <p:nvSpPr>
          <p:cNvPr id="35" name="Text 33"/>
          <p:cNvSpPr/>
          <p:nvPr/>
        </p:nvSpPr>
        <p:spPr>
          <a:xfrm>
            <a:off x="10631686" y="6418511"/>
            <a:ext cx="19907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Data layer</a:t>
            </a:r>
            <a:endParaRPr lang="en-US" sz="2175" dirty="0"/>
          </a:p>
        </p:txBody>
      </p:sp>
      <p:sp>
        <p:nvSpPr>
          <p:cNvPr id="36" name="Text 34"/>
          <p:cNvSpPr/>
          <p:nvPr/>
        </p:nvSpPr>
        <p:spPr>
          <a:xfrm>
            <a:off x="12593836" y="6437561"/>
            <a:ext cx="293926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Parquet imutável no S3</a:t>
            </a:r>
            <a:endParaRPr lang="en-US" sz="20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JUSTIFICATIVA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Por que Iceberg na visão carteira.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40794"/>
            <a:ext cx="15206662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última posição de toda a carteira de crédito exige upsert eficiente, leitura de grande volume e isolamento de concorrência — exatamente o que o Iceberg entrega nativamente.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4013299"/>
            <a:ext cx="3895725" cy="228867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4299049"/>
            <a:ext cx="361473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Upsert incremental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57300" y="4841974"/>
            <a:ext cx="36147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C7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INTO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57300" y="5270599"/>
            <a:ext cx="3384709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Atualiza registros sem reescrever a tabela inteira.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5114925" y="4013299"/>
            <a:ext cx="3895725" cy="266149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419725" y="4299049"/>
            <a:ext cx="361473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Leitura completa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419725" y="4841974"/>
            <a:ext cx="36147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C7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skipping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419725" y="5270599"/>
            <a:ext cx="3384709" cy="1156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Estatísticas de coluna eliminam full scan e reduzem o volume lido.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9277350" y="4013299"/>
            <a:ext cx="3895725" cy="228867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582150" y="4299049"/>
            <a:ext cx="361473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Concorrência segura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582150" y="4841974"/>
            <a:ext cx="36147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C7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optimistic CC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582150" y="5270599"/>
            <a:ext cx="3384709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Leitores nunca bloqueiam escritores.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13439775" y="4013299"/>
            <a:ext cx="3895725" cy="266149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3744575" y="4299049"/>
            <a:ext cx="361473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Manutenção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3744575" y="4841974"/>
            <a:ext cx="36147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C7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nativa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3744575" y="5270599"/>
            <a:ext cx="3384709" cy="1156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Compactação, expiração de snapshots e reescrita de manifests sem overhead.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952500" y="7131993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268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Resultado: base SoR em Parquet com partição diária de eventos, mais a visão carteira em Iceberg com a última posição de todas as operações.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ARQUITETURA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De ponta a ponta.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40794"/>
            <a:ext cx="15206662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Responsabilidades separadas: o Aurora RDS transaciona, o Kinesis Firehose propaga, o S3 armazena e o Glue com Iceberg serve.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3822799"/>
            <a:ext cx="16383000" cy="957263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3956149"/>
            <a:ext cx="1743456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Aurora RDS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19200" y="4337149"/>
            <a:ext cx="1743456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63"/>
              </a:lnSpc>
              <a:buNone/>
            </a:pPr>
            <a:r>
              <a:rPr lang="en-US" sz="18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Core transacional de contratos de crédito, com escrita isolada.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52500" y="4894362"/>
            <a:ext cx="16383000" cy="957263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5027712"/>
            <a:ext cx="1743456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Kinesis Firehose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19200" y="5408712"/>
            <a:ext cx="1743456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63"/>
              </a:lnSpc>
              <a:buNone/>
            </a:pPr>
            <a:r>
              <a:rPr lang="en-US" sz="18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Propaga em tempo real apenas os eventos commitados.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52500" y="5965924"/>
            <a:ext cx="16383000" cy="957263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2" name="Text 10"/>
          <p:cNvSpPr/>
          <p:nvPr/>
        </p:nvSpPr>
        <p:spPr>
          <a:xfrm>
            <a:off x="1219200" y="6099274"/>
            <a:ext cx="1743456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S3 · base SoR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19200" y="6480274"/>
            <a:ext cx="1743456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63"/>
              </a:lnSpc>
              <a:buNone/>
            </a:pPr>
            <a:r>
              <a:rPr lang="en-US" sz="18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Base imutável em Parquet, particionada por dia — fonte de verdade auditável.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52500" y="7037487"/>
            <a:ext cx="16383000" cy="957263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5" name="Text 13"/>
          <p:cNvSpPr/>
          <p:nvPr/>
        </p:nvSpPr>
        <p:spPr>
          <a:xfrm>
            <a:off x="1219200" y="7170837"/>
            <a:ext cx="1743456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AWS Glue · Iceberg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19200" y="7551837"/>
            <a:ext cx="1743456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63"/>
              </a:lnSpc>
              <a:buNone/>
            </a:pPr>
            <a:r>
              <a:rPr lang="en-US" sz="18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Job PySpark transforma a SoR em visão carteira, via MERGE INTO.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952500" y="8109049"/>
            <a:ext cx="16383000" cy="957263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18" name="Text 16"/>
          <p:cNvSpPr/>
          <p:nvPr/>
        </p:nvSpPr>
        <p:spPr>
          <a:xfrm>
            <a:off x="1219200" y="8242399"/>
            <a:ext cx="1743456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Times consumidores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19200" y="8623399"/>
            <a:ext cx="1743456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63"/>
              </a:lnSpc>
              <a:buNone/>
            </a:pPr>
            <a:r>
              <a:rPr lang="en-US" sz="187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Leem pelo catálogo Glue, sem acesso direto ao Aurora RDS.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952500" y="9333012"/>
            <a:ext cx="167640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Benefício-chave: expandir e manter o Aurora RDS sem afetar consumidor algum.</a:t>
            </a:r>
            <a:endParaRPr lang="en-US" sz="2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BIBLIOTECA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Frozone padroniza tudo.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40794"/>
            <a:ext cx="15206662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Criada dentro do pacote DataCustodia, abstrai a complexidade de sessão Spark, catálogos Iceberg e relatórios de performance em um único padrão. Versão estável 2.1.8.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3860899"/>
            <a:ext cx="737403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MÓDULOS PRINCIPAIS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52500" y="4346674"/>
            <a:ext cx="2113062" cy="523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23950" y="4460974"/>
            <a:ext cx="184636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CatalogConfig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3179862" y="4346674"/>
            <a:ext cx="2929979" cy="523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351312" y="4460974"/>
            <a:ext cx="267497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build_spark_session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2500" y="4984849"/>
            <a:ext cx="1976884" cy="523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123950" y="5099149"/>
            <a:ext cx="171018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IcebergTable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3043684" y="4984849"/>
            <a:ext cx="1976884" cy="523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215134" y="5099149"/>
            <a:ext cx="171018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ParquetTable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134868" y="4984849"/>
            <a:ext cx="1840706" cy="523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306318" y="5099149"/>
            <a:ext cx="15740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QueryLoader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2500" y="5623024"/>
            <a:ext cx="4563963" cy="523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123950" y="5737324"/>
            <a:ext cx="435798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finish_spark_session_and_report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630763" y="5623024"/>
            <a:ext cx="1976884" cy="523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802213" y="5737324"/>
            <a:ext cx="171018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SparkInsight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52500" y="6432649"/>
            <a:ext cx="690477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Foco: padronizar jobs AWS Glue com suporte nativo a Iceberg e Parquet.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265765" y="3860899"/>
            <a:ext cx="997670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FLUXO PADRÃO DE EXECUÇÃO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8265765" y="4308574"/>
            <a:ext cx="9069735" cy="10200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8513415" y="4480024"/>
            <a:ext cx="943187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CatalogConfig → build_spark_session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8513415" y="4822924"/>
            <a:ext cx="943187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Declara o catálogo Iceberg e inicializa a sessão Glue compatível.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8265765" y="5461992"/>
            <a:ext cx="9069735" cy="10200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513415" y="5633442"/>
            <a:ext cx="943187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IcebergTable / ParquetTable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8513415" y="5976342"/>
            <a:ext cx="943187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Lê ou escreve na camada SoR ou na visão carteira em Iceberg.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8265765" y="6615410"/>
            <a:ext cx="9069735" cy="10200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8513415" y="6786860"/>
            <a:ext cx="943187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QueryLoader</a:t>
            </a:r>
            <a:endParaRPr lang="en-US" sz="2025" dirty="0"/>
          </a:p>
        </p:txBody>
      </p:sp>
      <p:sp>
        <p:nvSpPr>
          <p:cNvPr id="30" name="Text 28"/>
          <p:cNvSpPr/>
          <p:nvPr/>
        </p:nvSpPr>
        <p:spPr>
          <a:xfrm>
            <a:off x="8513415" y="7129760"/>
            <a:ext cx="943187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Carrega queries versionadas no S3, sem hardcode no código-fonte.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8265765" y="7768828"/>
            <a:ext cx="9069735" cy="10200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513415" y="7940278"/>
            <a:ext cx="943187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finish_spark_session_and_report</a:t>
            </a:r>
            <a:endParaRPr lang="en-US" sz="2025" dirty="0"/>
          </a:p>
        </p:txBody>
      </p:sp>
      <p:sp>
        <p:nvSpPr>
          <p:cNvPr id="33" name="Text 31"/>
          <p:cNvSpPr/>
          <p:nvPr/>
        </p:nvSpPr>
        <p:spPr>
          <a:xfrm>
            <a:off x="8513415" y="8283178"/>
            <a:ext cx="943187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Encerra a sessão e gera o relatório de performance via SparkInsight.</a:t>
            </a:r>
            <a:endParaRPr lang="en-US" sz="1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COMO USAR · INGESTÃO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59"/>
              </a:lnSpc>
              <a:buNone/>
            </a:pPr>
            <a:r>
              <a:rPr lang="en-US" sz="4950" b="1" spc="-74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Ingestão incremental com MERGE Iceberg.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52500" y="2479030"/>
            <a:ext cx="15206662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Em poucas linhas de PySpark, qualquer time faz upsert na visão carteira usando a Frozone — sem conhecer os detalhes de configuração do Glue ou do catálogo Iceberg.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3837236"/>
            <a:ext cx="8320980" cy="1095375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6" name="Text 4"/>
          <p:cNvSpPr/>
          <p:nvPr/>
        </p:nvSpPr>
        <p:spPr>
          <a:xfrm>
            <a:off x="1200150" y="4027736"/>
            <a:ext cx="860824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1 · Declarar catálogo Iceberg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00150" y="4446836"/>
            <a:ext cx="86082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C7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CatalogConfig(account_id=..., layer=...)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2500" y="5065961"/>
            <a:ext cx="8320980" cy="1095375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9" name="Text 7"/>
          <p:cNvSpPr/>
          <p:nvPr/>
        </p:nvSpPr>
        <p:spPr>
          <a:xfrm>
            <a:off x="1200150" y="5256461"/>
            <a:ext cx="860824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2 · Criar sessão Glue + Iceberg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00150" y="5675561"/>
            <a:ext cx="86082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C7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build_spark_session(catalog_config)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52500" y="6294686"/>
            <a:ext cx="8320980" cy="1095375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2" name="Text 10"/>
          <p:cNvSpPr/>
          <p:nvPr/>
        </p:nvSpPr>
        <p:spPr>
          <a:xfrm>
            <a:off x="1200150" y="6485186"/>
            <a:ext cx="860824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3 · Ler a fonte SoR em Parquet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00150" y="6904286"/>
            <a:ext cx="86082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C7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ParquetTable(..., partition_mode='latest')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52500" y="7523411"/>
            <a:ext cx="8320980" cy="109537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15" name="Text 13"/>
          <p:cNvSpPr/>
          <p:nvPr/>
        </p:nvSpPr>
        <p:spPr>
          <a:xfrm>
            <a:off x="1200150" y="7713911"/>
            <a:ext cx="860824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4 · Executar MERGE INTO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00150" y="8133011"/>
            <a:ext cx="86082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A6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IcebergTable.merge_rows(key_cols, update_cols)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806880" y="3837236"/>
            <a:ext cx="828131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ESTRATÉGIAS DE PARTIÇÃO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806880" y="4265861"/>
            <a:ext cx="2641848" cy="542925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9" name="Text 17"/>
          <p:cNvSpPr/>
          <p:nvPr/>
        </p:nvSpPr>
        <p:spPr>
          <a:xfrm>
            <a:off x="9978330" y="4380161"/>
            <a:ext cx="23782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latest · mais recente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2563029" y="4265861"/>
            <a:ext cx="2077194" cy="542925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21" name="Text 19"/>
          <p:cNvSpPr/>
          <p:nvPr/>
        </p:nvSpPr>
        <p:spPr>
          <a:xfrm>
            <a:off x="12734479" y="4380161"/>
            <a:ext cx="181049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fixed · por data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4754523" y="4265861"/>
            <a:ext cx="1546622" cy="542925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23" name="Text 21"/>
          <p:cNvSpPr/>
          <p:nvPr/>
        </p:nvSpPr>
        <p:spPr>
          <a:xfrm>
            <a:off x="14925973" y="4380161"/>
            <a:ext cx="127992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full · todas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806880" y="5018336"/>
            <a:ext cx="828131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SQL versionado no S3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9806880" y="5475536"/>
            <a:ext cx="775432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Queries carregadas pelo QueryLoader, sem hardcode: a lógica de negócio fica separada do job PySpark.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806880" y="6458396"/>
            <a:ext cx="828131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Benefício principal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9806880" y="6915596"/>
            <a:ext cx="7754325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time faz upsert incremental sem conhecer o catálogo Glue nem a configuração Iceberg — a complexidade está encapsulada na Frozone.</a:t>
            </a:r>
            <a:endParaRPr lang="en-US" sz="2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COMO USAR · OPERAÇÃO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59"/>
              </a:lnSpc>
              <a:buNone/>
            </a:pPr>
            <a:r>
              <a:rPr lang="en-US" sz="4950" b="1" spc="-74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Manutenção e observabilidade.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52500" y="2479030"/>
            <a:ext cx="15206662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Frozone entrega manutenção automática de tabelas e relatório de performance ao final de cada job.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3761036"/>
            <a:ext cx="87172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CICLO DE MANUTENÇÃO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4170611"/>
            <a:ext cx="87172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IcebergTable.run_full_maintenance(timestamp)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52500" y="4561136"/>
            <a:ext cx="7924800" cy="928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62050" y="4684961"/>
            <a:ext cx="825627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1 · Expiração de snapshots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1162050" y="5056436"/>
            <a:ext cx="825627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63"/>
              </a:lnSpc>
              <a:buNone/>
            </a:pPr>
            <a:r>
              <a:rPr lang="en-US" sz="18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Remove snapshots anteriores ao timestamp configurado.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52500" y="5585073"/>
            <a:ext cx="7924800" cy="928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162050" y="5708898"/>
            <a:ext cx="825627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2 · Remoção de arquivos órfãos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1162050" y="6080373"/>
            <a:ext cx="825627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63"/>
              </a:lnSpc>
              <a:buNone/>
            </a:pPr>
            <a:r>
              <a:rPr lang="en-US" sz="18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Exclui dados sem referência em snapshot ativo.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52500" y="6609011"/>
            <a:ext cx="7924800" cy="928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62050" y="6732836"/>
            <a:ext cx="825627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3 · Reescrita de data files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1162050" y="7104311"/>
            <a:ext cx="825627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63"/>
              </a:lnSpc>
              <a:buNone/>
            </a:pPr>
            <a:r>
              <a:rPr lang="en-US" sz="18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Compacta arquivos pequenos em blocos otimizados para leitura.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952500" y="7632948"/>
            <a:ext cx="7924800" cy="928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162050" y="7756773"/>
            <a:ext cx="825627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4 · Reescrita de manifests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1162050" y="8128248"/>
            <a:ext cx="825627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63"/>
              </a:lnSpc>
              <a:buNone/>
            </a:pPr>
            <a:r>
              <a:rPr lang="en-US" sz="18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Consolida metadados para acelerar o planejamento de queries.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9410700" y="3761036"/>
            <a:ext cx="87172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OBSERVABILIDADE · SPARKINSIGHT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410700" y="4170611"/>
            <a:ext cx="7924800" cy="1238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9620250" y="4294436"/>
            <a:ext cx="825627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Encerramento com relatório técnico</a:t>
            </a:r>
            <a:endParaRPr lang="en-US" sz="2175" dirty="0"/>
          </a:p>
        </p:txBody>
      </p:sp>
      <p:sp>
        <p:nvSpPr>
          <p:cNvPr id="22" name="Text 20"/>
          <p:cNvSpPr/>
          <p:nvPr/>
        </p:nvSpPr>
        <p:spPr>
          <a:xfrm>
            <a:off x="9620250" y="4665911"/>
            <a:ext cx="773087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63"/>
              </a:lnSpc>
              <a:buNone/>
            </a:pPr>
            <a:r>
              <a:rPr lang="en-US" sz="18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finish_spark_session_and_report encerra o job e aciona o SparkInsight.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9410700" y="5504111"/>
            <a:ext cx="7924800" cy="16097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9620250" y="5627936"/>
            <a:ext cx="825627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Métricas coletadas</a:t>
            </a:r>
            <a:endParaRPr lang="en-US" sz="2175" dirty="0"/>
          </a:p>
        </p:txBody>
      </p:sp>
      <p:sp>
        <p:nvSpPr>
          <p:cNvPr id="25" name="Shape 23"/>
          <p:cNvSpPr/>
          <p:nvPr/>
        </p:nvSpPr>
        <p:spPr>
          <a:xfrm>
            <a:off x="9620250" y="6056561"/>
            <a:ext cx="1941761" cy="42862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26" name="Text 24"/>
          <p:cNvSpPr/>
          <p:nvPr/>
        </p:nvSpPr>
        <p:spPr>
          <a:xfrm>
            <a:off x="9753600" y="6123236"/>
            <a:ext cx="17512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CPU bound ratio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1638211" y="6056561"/>
            <a:ext cx="2369493" cy="42862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28" name="Text 26"/>
          <p:cNvSpPr/>
          <p:nvPr/>
        </p:nvSpPr>
        <p:spPr>
          <a:xfrm>
            <a:off x="11771561" y="6123236"/>
            <a:ext cx="21789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Memory bound ratio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4083903" y="6056561"/>
            <a:ext cx="2400746" cy="42862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30" name="Text 28"/>
          <p:cNvSpPr/>
          <p:nvPr/>
        </p:nvSpPr>
        <p:spPr>
          <a:xfrm>
            <a:off x="14217253" y="6123236"/>
            <a:ext cx="221024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Network bound ratio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620250" y="6561386"/>
            <a:ext cx="1533376" cy="42862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32" name="Text 30"/>
          <p:cNvSpPr/>
          <p:nvPr/>
        </p:nvSpPr>
        <p:spPr>
          <a:xfrm>
            <a:off x="9753600" y="6628061"/>
            <a:ext cx="134287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Shuffle time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410700" y="7209086"/>
            <a:ext cx="7924800" cy="928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9620250" y="7332911"/>
            <a:ext cx="825627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Thresholds configuráveis por job</a:t>
            </a:r>
            <a:endParaRPr lang="en-US" sz="2175" dirty="0"/>
          </a:p>
        </p:txBody>
      </p:sp>
      <p:sp>
        <p:nvSpPr>
          <p:cNvPr id="35" name="Text 33"/>
          <p:cNvSpPr/>
          <p:nvPr/>
        </p:nvSpPr>
        <p:spPr>
          <a:xfrm>
            <a:off x="9620250" y="7704386"/>
            <a:ext cx="825627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63"/>
              </a:lnSpc>
              <a:buNone/>
            </a:pPr>
            <a:r>
              <a:rPr lang="en-US" sz="18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Alertas disparam nos limites definidos pelo time.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9410700" y="8233023"/>
            <a:ext cx="7924800" cy="928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9620250" y="8356848"/>
            <a:ext cx="825627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Relatório persistido no S3</a:t>
            </a:r>
            <a:endParaRPr lang="en-US" sz="2175" dirty="0"/>
          </a:p>
        </p:txBody>
      </p:sp>
      <p:sp>
        <p:nvSpPr>
          <p:cNvPr id="38" name="Text 36"/>
          <p:cNvSpPr/>
          <p:nvPr/>
        </p:nvSpPr>
        <p:spPr>
          <a:xfrm>
            <a:off x="9620250" y="8728323"/>
            <a:ext cx="825627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63"/>
              </a:lnSpc>
              <a:buNone/>
            </a:pPr>
            <a:r>
              <a:rPr lang="en-US" sz="18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Histórico de execuções para auditoria e diagnóstico.</a:t>
            </a:r>
            <a:endParaRPr lang="en-US" sz="18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ADOÇÃO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Trilha para os times consumidores.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40794"/>
            <a:ext cx="15206662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adoção é gradual: cada time começa pela leitura da SoR em Parquet e evolui até escrever e manter as próprias tabelas Iceberg com a Frozone.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4013299"/>
            <a:ext cx="56717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52500" y="4699099"/>
            <a:ext cx="567176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Leitura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952500" y="5365849"/>
            <a:ext cx="5310835" cy="158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ParquetTable para ler a base SoR, com partição latest, fixed ou full. Zero impacto no Aurora RDS. Tutorial 4 é o ponto de entrada.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565850" y="4013299"/>
            <a:ext cx="56717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565850" y="4699099"/>
            <a:ext cx="567176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Upsert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6565850" y="5365849"/>
            <a:ext cx="5310835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IcebergTable.merge_rows para manter visão própria de carteira: upsert por chave sem reescrever a tabela. Tutoriais 1 e 3.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179201" y="4013299"/>
            <a:ext cx="56717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2179201" y="4699099"/>
            <a:ext cx="567176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Operação completa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12179201" y="5365849"/>
            <a:ext cx="5310835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Ciclo fim a fim — insert, overwrite, merge, delete e SparkInsight — com relatórios no S3 e thresholds por job. Tutorial 5.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52500" y="7407771"/>
            <a:ext cx="167640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26"/>
              </a:lnSpc>
              <a:buNone/>
            </a:pPr>
            <a:r>
              <a:rPr lang="en-US" sz="2250" b="1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Documentação: datacustodia → frozone → Installation → Quick Start → Tutorials → User Guide.</a:t>
            </a:r>
            <a:endParaRPr lang="en-US" sz="2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ANEXO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Referências.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874169"/>
            <a:ext cx="6477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C7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752600" y="2807494"/>
            <a:ext cx="436273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Apache Iceberg — site oficial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2500" y="3455194"/>
            <a:ext cx="6477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C7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752600" y="3388519"/>
            <a:ext cx="470439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Apache Iceberg — Introduction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" y="4036219"/>
            <a:ext cx="6477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C7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52600" y="3969544"/>
            <a:ext cx="733097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Apache Iceberg Table Format — Knowledge Base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52500" y="4617244"/>
            <a:ext cx="6477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C7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752600" y="4550569"/>
            <a:ext cx="537561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DataCustodia · Frozone — index.md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52500" y="5198269"/>
            <a:ext cx="6477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C7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[5]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752600" y="5131594"/>
            <a:ext cx="582827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DataCustodia · Frozone — tutorials.md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52500" y="6131719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728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Squad Produtos Agregados · Custódia de Ativos · 2026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2026-07-31T21:04:44Z</dcterms:created>
  <dcterms:modified xsi:type="dcterms:W3CDTF">2026-07-31T21:04:44Z</dcterms:modified>
</cp:coreProperties>
</file>