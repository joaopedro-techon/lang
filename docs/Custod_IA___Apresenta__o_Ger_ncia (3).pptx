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arquitetura de referência já existe; hoje falamos de como ela chega ao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existe e está acordado: padrões, ADRs e templates de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é passivo. A distância entre desenho e código é humana, e por isso varia.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ferramentas de mercado seguem conosco. O que falta é o padrão da casa aplicado por cima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certa é onde a IA deve decidir. Coletar requisitos é decisão; escrever código é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própria sobre plataforma existente: LangGraph para orquestração, IaraGenAI como fundação.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LangGraph em uma frase: o comportamento do agente é declarado como grafo, não espalhado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grafos no mesmo motor: um com LLM, dois sem token nenhum. O harness roteia cada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o terminal: texto solto conversa com LLM, comando com barra é determinístico.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agente decide quando consultar a base vetorial. Buscar sempre custa token e traz ruído.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Wizard determinístico até a spec; só depois dela o LLM escreve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limites são código, não recomendação no prompt. Cinco freios.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ganhos para a gerência e o que passamos a medir.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é instalável e versionado. Três horizontes.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estações entregues, duas previstas sem data. O calendário depende da capacidade acordada.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pedidos concretos: produto com dono, squads-piloto, espaço para apresentar às demais áreas.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demonstração ao vivo: abrir o terminal e rodar o agente em um projeto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62038"/>
            <a:ext cx="838200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" name="Text 1"/>
          <p:cNvSpPr/>
          <p:nvPr/>
        </p:nvSpPr>
        <p:spPr>
          <a:xfrm>
            <a:off x="2019300" y="952500"/>
            <a:ext cx="64220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51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CUSTÓDIA DE ATIVOS PF · ENGENHARIA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3924300"/>
            <a:ext cx="1466850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576"/>
              </a:lnSpc>
              <a:buNone/>
            </a:pPr>
            <a:r>
              <a:rPr lang="en-US" sz="9600" b="1" spc="-192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Do desenho ao código.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952500" y="5486400"/>
            <a:ext cx="11282363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Custod.IA — o agente que leva a arquitetura de referência até o repositório.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52500" y="9210675"/>
            <a:ext cx="382854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Python · LangGraph · IaraGenAI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66395" y="9210675"/>
            <a:ext cx="30283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Apresentação à gerência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ONDE CHEGAMOS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está estabelecida.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3735050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Padrões de projeto, camadas, regra de dependência, decisões em ADR e o desenho do worker e da infraestrutura: definidos, registrados e acordados.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127599"/>
            <a:ext cx="5206901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546699"/>
            <a:ext cx="48893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DEFINIDO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5051524"/>
            <a:ext cx="488939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Padrões e camadas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33500" y="5708749"/>
            <a:ext cx="4578248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Organização por camada, regra de dependência e contratos entre as peças.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40401" y="4127599"/>
            <a:ext cx="5207050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0" name="Text 8"/>
          <p:cNvSpPr/>
          <p:nvPr/>
        </p:nvSpPr>
        <p:spPr>
          <a:xfrm>
            <a:off x="6921401" y="4546699"/>
            <a:ext cx="4889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REGISTRADO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21401" y="5051524"/>
            <a:ext cx="48895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ADRs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21401" y="5708749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Decisões técnicas registradas com contexto e consequência, em vez de conhecimento tácito.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28450" y="4127599"/>
            <a:ext cx="5207050" cy="3160216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12509450" y="4546699"/>
            <a:ext cx="488955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MATERIALIZADO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09450" y="5051524"/>
            <a:ext cx="488955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Templates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09450" y="5708749"/>
            <a:ext cx="457840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Projetos-molde que mostram, em código, como o padrão se parece na prática.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7821216"/>
            <a:ext cx="136207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Resta a pergunta difícil: como esse desenho vira código, todo dia, em todo projeto?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PROBLEMA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Mapa não vira código sozinho.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Documentação é passiva. Skill, playbook e guia dependem de alguém lembrar que existem, abrir, interpretar e aplicar — projeto a projeto, desenvolvedor a desenvolvedor, sprint a sprint.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distância é humana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52500" y="5643860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Duas squads leem a mesma página e entregam dois projetos diferentes. O resultado depende de quem executa.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3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913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Conformidade vira auditoria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591300" y="5643860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Verificada depois, quando corrigir já é caro, em vez de garantida antes, quando ainda é barato.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30100" y="4203799"/>
            <a:ext cx="56159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108"/>
              </a:lnSpc>
              <a:buNone/>
            </a:pPr>
            <a:r>
              <a:rPr lang="en-US" sz="48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230100" y="5022949"/>
            <a:ext cx="561594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915"/>
              </a:lnSpc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custo recai sobre quem chega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30100" y="5643860"/>
            <a:ext cx="5258562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Semanas até distinguir o que é padrão da casa do que é preferência do autor.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454950"/>
            <a:ext cx="13244513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preciso estratégia e técnica para aplicar a arquitetura no código, não mais documentação sobre ela.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FALTA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 ferramentas de mercado são boas — e seguem com a gente.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7130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Devin, Claude Code e os demais entregam valor real e seguem no nosso dia a dia. O que falta não é ferramenta melhor: é o padrão da casa aplicado por cima dela, em todo projeto novo.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818186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4065836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Contexto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57300" y="4656386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nossa arquitetura, as nossas ADRs e as nossas contas AWS não vêm de fábrica em ferramenta alguma. Alguém precisa colocá-las no caminho.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53550" y="3818186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658350" y="4065836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Fronteira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58350" y="4656386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Parte do trabalho é decisão já tomada. Sem fronteira explícita, tudo vira interpretação — inclusive o que já era regra.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254502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6502152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Repetibilidade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57300" y="7092702"/>
            <a:ext cx="759352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padrão precisa sair igual todas as vezes. Isso é propriedade de código, não de conversa.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53550" y="6254502"/>
            <a:ext cx="7981950" cy="22458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58350" y="6502152"/>
            <a:ext cx="810958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Reaproveitamento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58350" y="7092702"/>
            <a:ext cx="7593521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 bom prompt resolve um projeto. Um harness resolve todos — e continua valendo quando o modelo, ou a ferramenta, mudar.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52500" y="8805118"/>
            <a:ext cx="157162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não substitui as ferramentas: dá a elas o contexto e o trilho da nossa arquitetura.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VIRADA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6874490" cy="13957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pergunta não é qual ferramenta usar. É quando usar cada tipo de fluxo.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5420023" y="3967460"/>
            <a:ext cx="5729139" cy="28575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5420023" y="3310235"/>
            <a:ext cx="590101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determinístico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606361" y="3967460"/>
            <a:ext cx="5728990" cy="28575"/>
          </a:xfrm>
          <a:prstGeom prst="rect">
            <a:avLst/>
          </a:prstGeom>
          <a:solidFill>
            <a:srgbClr val="5B7FD1"/>
          </a:solidFill>
          <a:ln/>
        </p:spPr>
      </p:sp>
      <p:sp>
        <p:nvSpPr>
          <p:cNvPr id="7" name="Text 5"/>
          <p:cNvSpPr/>
          <p:nvPr/>
        </p:nvSpPr>
        <p:spPr>
          <a:xfrm>
            <a:off x="11606361" y="3310235"/>
            <a:ext cx="590086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Fluxo com LLM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52500" y="4491335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decide o passo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20023" y="4491335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código — arestas explícitas do grafo.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1606361" y="4491335"/>
            <a:ext cx="59008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modelo, a partir do contexto.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2500" y="5335191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Mesma entrada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20023" y="5335191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Sempre a mesma saída.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606361" y="5335191"/>
            <a:ext cx="590086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Saída não garantida.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6179046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Serve para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20023" y="6179046"/>
            <a:ext cx="590101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Coletar requisitos, validar, configurar infraestrutura e gravar a decisão.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1606361" y="6179046"/>
            <a:ext cx="590086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Interpretar texto livre, explicar o domínio e escrever código a partir de decisão já fechada.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952500" y="7796212"/>
            <a:ext cx="41306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Risco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20023" y="7796212"/>
            <a:ext cx="5901013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Nenhum. Custo de token: zero.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11606361" y="7796212"/>
            <a:ext cx="590086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7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Alucinação e drift — por isso, sempre com freio.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952500" y="9064823"/>
            <a:ext cx="180213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harness é quem sabe a diferença e escolhe o trilho certo a cada passo. É daí que vem a assertividade.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Construir o harness em casa, sobre o que o banco já tem.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Estudamos o que existe no mercado e dentro do banco. A decisão foi por solução própria por um motivo específico: o harness é nosso — evolui no nosso ritmo e a mesma engine se reaproveita em outras soluções.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engine é ativo nosso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2500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Orquestração, guardrails, ferramentas e integração com a plataforma do banco ficam numa base que já serve à próxima solução, não só a esta.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65850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65850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 na nossa agenda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65850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Uma necessidade nova da custódia vira feature quando decidirmos, com o contexto que só nós temos, sem depender de roadmap de terceiro.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179201" y="4559052"/>
            <a:ext cx="5671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MOTIVO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179201" y="5044827"/>
            <a:ext cx="56717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308"/>
              </a:lnSpc>
              <a:buNone/>
            </a:pPr>
            <a:r>
              <a:rPr lang="en-US" sz="30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Assenta sobre o IaraGenAI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179201" y="5673477"/>
            <a:ext cx="5310835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Modelos democratizados, gateway autenticado e base vetorial já existem na casa. Consumimos a plataforma em vez de construir outra.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952500" y="7846963"/>
            <a:ext cx="1471612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268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Não construímos plataforma de IA nem substituímos ferramenta de codificação. Construímos o trilho que aplica a nossa arquitetura — reaproveitável por construção.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MOTOR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LangGraph, em uma frase: o fluxo do agente vira um diagrama.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517130"/>
            <a:ext cx="14716125" cy="1446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uma biblioteca de orquestração. Em vez de ficar espalhado no código, o comportamento do agente é declarado como um grafo: caixas que fazem uma coisa cada e setas que dizem para onde ir depois.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4344888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649688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Nó — uma caixa, um passo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5230713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Perguntar a fila, consultar a AWS, chamar o modelo, gravar a spec. Cada passo é isolado: dá para testar e trocar um sem mexer nos outros.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48800" y="4344888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4649688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Aresta condicional — a regra visível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791700" y="5230713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"Se não confirmou, encerra sem gravar" é uma seta no diagrama, que se lê e se audita — não uma condicional perdida em duzentas linhas.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6962180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266980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Pausa e retomada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95400" y="7848005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congela, descreve o que precisa saber e espera. Hoje quem responde é o terminal; amanhã pode ser uma tela web, sem tocar no fluxo.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448800" y="6962180"/>
            <a:ext cx="7886700" cy="2350591"/>
          </a:xfrm>
          <a:prstGeom prst="rect">
            <a:avLst/>
          </a:prstGeom>
          <a:solidFill>
            <a:srgbClr val="F7F4EF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7266980"/>
            <a:ext cx="792099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motor só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791700" y="7848005"/>
            <a:ext cx="7416927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Fluxo determinístico e fluxo com LLM são grafos na mesma biblioteca. Uma forma de orquestrar, e a engine inteira reaproveitável.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GRAFO HOJE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já está desenhado e rodando.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952500" y="2479030"/>
            <a:ext cx="15206662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Três grafos no mesmo motor. Um usa LLM; dois não consomem token algum — e é o harness que roteia cada pedido para o trilho certo.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 · com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390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982021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5429696"/>
            <a:ext cx="5105400" cy="876300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5563046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877371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chama o modelo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500" y="6458396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tool_call · ↑ resultado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6906071"/>
            <a:ext cx="5105400" cy="876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039421"/>
            <a:ext cx="5196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143000" y="7353746"/>
            <a:ext cx="51968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executa e devolve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7934771"/>
            <a:ext cx="56159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↓ sem tool_call → END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52500" y="8458646"/>
            <a:ext cx="525856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Ferramentas: ler e listar arquivos, escrever, rodar Maven e buscar na base de conhecimento.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913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/initialize · determinístico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5913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81800" y="44390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tipo_projeto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app → END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6591300" y="498202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81800" y="5096321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gatilho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schedule → END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6591300" y="563924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781800" y="575354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· vazão · dependências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591300" y="629647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1800" y="6410771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não → END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6591300" y="6953696"/>
            <a:ext cx="5105400" cy="5048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28" name="Text 26"/>
          <p:cNvSpPr/>
          <p:nvPr/>
        </p:nvSpPr>
        <p:spPr>
          <a:xfrm>
            <a:off x="6781800" y="70679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salvar → spec.json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6591300" y="7687121"/>
            <a:ext cx="525856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Nenhum nó chama modelo. Só o último escreve em disco: desistir em qualquer ponto não deixa rastro.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230100" y="3705671"/>
            <a:ext cx="5615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/infra · determinístico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2230100" y="4324796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2420600" y="4439096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ambientes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dev · hom · prod</a:t>
            </a:r>
            <a:endParaRPr lang="en-US" sz="1875" dirty="0"/>
          </a:p>
        </p:txBody>
      </p:sp>
      <p:sp>
        <p:nvSpPr>
          <p:cNvPr id="33" name="Shape 31"/>
          <p:cNvSpPr/>
          <p:nvPr/>
        </p:nvSpPr>
        <p:spPr>
          <a:xfrm>
            <a:off x="12230100" y="4982021"/>
            <a:ext cx="5105400" cy="504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2420600" y="5096321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03399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validar_perfis</a:t>
            </a:r>
            <a:pPr algn="l" indent="0" marL="0">
              <a:buNone/>
            </a:pPr>
            <a:r>
              <a:rPr lang="en-US" sz="187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falhou → END</a:t>
            </a:r>
            <a:endParaRPr lang="en-US" sz="1875" dirty="0"/>
          </a:p>
        </p:txBody>
      </p:sp>
      <p:sp>
        <p:nvSpPr>
          <p:cNvPr id="35" name="Shape 33"/>
          <p:cNvSpPr/>
          <p:nvPr/>
        </p:nvSpPr>
        <p:spPr>
          <a:xfrm>
            <a:off x="12230100" y="5639246"/>
            <a:ext cx="5105400" cy="1323975"/>
          </a:xfrm>
          <a:prstGeom prst="rect">
            <a:avLst/>
          </a:prstGeom>
          <a:ln w="19050">
            <a:solidFill>
              <a:srgbClr val="EC700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2439650" y="5791646"/>
            <a:ext cx="51549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CICLO · UM AMBIENTE POR VEZ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439650" y="6144071"/>
            <a:ext cx="482688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90"/>
              </a:lnSpc>
              <a:buNone/>
            </a:pPr>
            <a:r>
              <a:rPr lang="en-US" sz="1875" dirty="0">
                <a:solidFill>
                  <a:srgbClr val="003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→ vpc → subnets → cidrs → filas → vazão → sts</a:t>
            </a:r>
            <a:endParaRPr lang="en-US" sz="1875" dirty="0"/>
          </a:p>
        </p:txBody>
      </p:sp>
      <p:sp>
        <p:nvSpPr>
          <p:cNvPr id="38" name="Shape 36"/>
          <p:cNvSpPr/>
          <p:nvPr/>
        </p:nvSpPr>
        <p:spPr>
          <a:xfrm>
            <a:off x="12230100" y="7115621"/>
            <a:ext cx="5105400" cy="504825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9" name="Text 37"/>
          <p:cNvSpPr/>
          <p:nvPr/>
        </p:nvSpPr>
        <p:spPr>
          <a:xfrm>
            <a:off x="12420600" y="7229921"/>
            <a:ext cx="48775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→ escrever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2230100" y="7849046"/>
            <a:ext cx="525856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03"/>
              </a:lnSpc>
              <a:buNone/>
            </a:pPr>
            <a:r>
              <a:rPr lang="en-US" sz="19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Quem chama a AWS nunca pausa: retomar uma sessão não refaz consulta de rede.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NA PRÁTICA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— o agente da custódia.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769394"/>
            <a:ext cx="7519940" cy="1363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desenvolvedor entra na pasta do repositório e executa </a:t>
            </a:r>
            <a:pPr algn="l" indent="0" marL="0">
              <a:lnSpc>
                <a:spcPct val="113171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custodia </a:t>
            </a:r>
            <a:pPr algn="l" indent="0" marL="0">
              <a:lnSpc>
                <a:spcPct val="113171"/>
              </a:lnSpc>
              <a:buNone/>
            </a:pPr>
            <a:r>
              <a:rPr lang="en-US" sz="24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. No mesmo lugar, dois modos de uso.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52500" y="4437906"/>
            <a:ext cx="803100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Conversa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5018931"/>
            <a:ext cx="751994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Texto livre, assistido por LLM e ancorado no nosso domínio.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2500" y="6162824"/>
            <a:ext cx="8031004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Comandos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52500" y="6743849"/>
            <a:ext cx="751994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Iniciados por barra: 100% determinísticos, sem improviso. A separação é deliberada e visível para quem usa.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8939213" y="2769394"/>
            <a:ext cx="8396139" cy="4944666"/>
          </a:xfrm>
          <a:prstGeom prst="rect">
            <a:avLst/>
          </a:prstGeom>
          <a:solidFill>
            <a:srgbClr val="0F1420"/>
          </a:solidFill>
          <a:ln/>
        </p:spPr>
      </p:sp>
      <p:sp>
        <p:nvSpPr>
          <p:cNvPr id="10" name="Text 8"/>
          <p:cNvSpPr/>
          <p:nvPr/>
        </p:nvSpPr>
        <p:spPr>
          <a:xfrm>
            <a:off x="9377363" y="3188494"/>
            <a:ext cx="7745434" cy="126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5B7F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══════════════════════════════════ Custod.IA 0.2.0 · agente da custódia ══════════════════════════════════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7363" y="4623643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 é o padrão de retry do listener SQS?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377363" y="5241727"/>
            <a:ext cx="7745434" cy="855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8FD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buscar_conhecimento — consulta a KB da arquitetura </a:t>
            </a:r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 ancorada no documento, com a fonte citada.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77363" y="6268343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 </a:t>
            </a:r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wizard determinístico — zero token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377363" y="6886426"/>
            <a:ext cx="7745434" cy="44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EC7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D8E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 </a:t>
            </a:r>
            <a:pPr algn="l" indent="0" marL="0">
              <a:lnSpc>
                <a:spcPct val="138387"/>
              </a:lnSpc>
              <a:buNone/>
            </a:pPr>
            <a:r>
              <a:rPr lang="en-US" sz="1950" dirty="0">
                <a:solidFill>
                  <a:srgbClr val="9FB6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dev, hom e prod — lendo a AWS real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01 · RAG DA ARQUITETURA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referência, respondendo.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avalia se precisa consultar a base vetorial antes de responder. Não busca sempre: buscar sempre custa token e traz ruído.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27599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base é a do banco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52500" y="4708624"/>
            <a:ext cx="8084058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indexação vem da solução interna de embedding do IaraGenAI; o agente consome a Knowledge Base, sem índice paralelo.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486900" y="4127599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decisão de buscar é do agente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486900" y="4708624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É aqui que a IA agrega valor: julgar se a pergunta trata do nosso padrão ou de Java genérico.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52500" y="6329214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resposta vem ancorada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6910239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 nosso documento, com a fonte citada, e não no treinamento do modelo.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486900" y="6329214"/>
            <a:ext cx="86334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efeito prático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486900" y="6910239"/>
            <a:ext cx="8084058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deixa de ser um documento a ser aberto e passa a responder onde o desenvolvedor está: o terminal.</a:t>
            </a:r>
            <a:endParaRPr lang="en-US" sz="21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ENTREGA 02 · STARTER DE PROJETOS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Um projeto novo que nasce dentro do padrão.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/initialize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76350" y="3569494"/>
            <a:ext cx="360426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determinístico, sem LLM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51054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spec.json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429250" y="3569494"/>
            <a:ext cx="33748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decisão versionada e revisável em PR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258300" y="2807494"/>
            <a:ext cx="3924300" cy="21468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821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C7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/infra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582150" y="3569494"/>
            <a:ext cx="337489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terraform de dev, hom e prod com dados reais da conta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3411200" y="2807494"/>
            <a:ext cx="3924300" cy="2146846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3735050" y="3112294"/>
            <a:ext cx="36042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5A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/generate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735050" y="3569494"/>
            <a:ext cx="337489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aqui, sim, o LLM escreve — a partir da spec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525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Oferece o que existe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525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Cluster, VPC, subnets e filas são listados a partir da conta, em vez de digitados de memória.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5913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Autoscaling calculado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65913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Fórmula sobre vazão, concorrência e tempo de processamento, com o cálculo exibido antes de gravar.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30100" y="5563939"/>
            <a:ext cx="56159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Nada antes da confirmação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230100" y="6106864"/>
            <a:ext cx="5258562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depende de confirmação explícita. Cancelar não deixa rastro no projeto.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GOVERNANÇA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Onde a IA entra, ela entra com freio.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22558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diferença entre um agente de mercado e um agente da casa: aqui os limites são código, não recomendação em prompt.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525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spec é a fronteira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Antes dela, tudo é determinístico. Depois dela, um erro do modelo é erro de código, nunca de decisão.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43053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3053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Human-in-the-loop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053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escrita em arquivo e todo comando de build param e pedem aprovação, com o conteúdo na tela.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6581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6581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Sandbox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58100" y="5445770"/>
            <a:ext cx="306095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As ferramentas do agente estão presas à pasta do projeto. Ele não escapa dela.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10109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0109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Só leitura na nuvem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010900" y="5445770"/>
            <a:ext cx="3060954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consulta a AWS e nunca aplica. Quem aplica é o Terraform, pelo pipeline e pelas aprovações de sempre.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4363700" y="4203799"/>
            <a:ext cx="32689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4363700" y="4908649"/>
            <a:ext cx="326898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659"/>
              </a:lnSpc>
              <a:buNone/>
            </a:pPr>
            <a:r>
              <a:rPr lang="en-US" sz="24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Decisão auditável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363700" y="5445770"/>
            <a:ext cx="306095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spec.json vai para o repositório e é revisada em PR, separada do código gerado.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MUDA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que muda para a gerência.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52500" y="2807494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169444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CONFORMIDADE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52550" y="3617119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por construção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52550" y="4198144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projeto nasce aderente à arquitetura. A revisão deixa de procurar desvios e passa a discutir negócio.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410700" y="2807494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10750" y="3169444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CUSTO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10750" y="3617119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Token onde faz diferença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10750" y="4198144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que é regra vira código e custa zero. O modelo é acionado apenas onde há julgamento a fazer.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52500" y="5638205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6000155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TEMPO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52550" y="6447830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Setup em minutos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52550" y="7028855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Configurar projeto e infraestrutura deixa de consumir uma semana de adaptação entre repositórios.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410700" y="5638205"/>
            <a:ext cx="7924800" cy="25259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810750" y="6000155"/>
            <a:ext cx="7837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CONHECIMENTO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810750" y="6447830"/>
            <a:ext cx="783717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Padrão que não evapora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810750" y="7028855"/>
            <a:ext cx="7338441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778"/>
              </a:lnSpc>
              <a:buNone/>
            </a:pPr>
            <a:r>
              <a:rPr lang="en-US" sz="210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arquitetura fica no agente, e não apenas com quem a escreveu. Quem chega já produz dentro do padrão.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52500" y="8621316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Métricas a acompanhar a partir daqui: tempo até o primeiro deploy, desvios de arquitetura encontrados em revisão e custo de token por projeto configurado.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VISÃO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Custod.IA não é um script. É um produto.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578894"/>
            <a:ext cx="14716125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Já é instalável, versionado e distribuído internamente pelo Artifactory do banco — </a:t>
            </a:r>
            <a:pPr algn="l" indent="0" marL="0">
              <a:lnSpc>
                <a:spcPct val="114651"/>
              </a:lnSpc>
              <a:buNone/>
            </a:pPr>
            <a:r>
              <a:rPr lang="en-US" sz="2550" b="1" dirty="0">
                <a:solidFill>
                  <a:srgbClr val="003399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pip install custodia-cli </a:t>
            </a:r>
            <a:pPr algn="l" indent="0" marL="0">
              <a:lnSpc>
                <a:spcPct val="114651"/>
              </a:lnSpc>
              <a:buNone/>
            </a:pPr>
            <a:r>
              <a:rPr lang="en-US" sz="2550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. Tem versão, release e usuários. Falta tratá-lo como produto na agenda da área.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Evoluir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5365849"/>
            <a:ext cx="5258562" cy="164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Fechar o ciclo: geração do pom.xml e do listener a partir da spec, suporte a App e Schedule além do Worker e retomada de sessão interrompida.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65913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913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Democratizar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91300" y="5365849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Toda a custódia usando: onboarding das squads, documentação viva e coleta de uso para priorizar o backlog com dado.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12230100" y="4165699"/>
            <a:ext cx="56159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C70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HORIZONTE 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230100" y="4651474"/>
            <a:ext cx="561594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3399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Expandir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230100" y="5365849"/>
            <a:ext cx="5258562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E445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Além da custódia: o motor é o mesmo. Trocar o domínio e a arquitetura de referência atende outras áreas.</a:t>
            </a:r>
            <a:endParaRPr lang="en-US" sz="21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LINHA DO TEMPO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59"/>
              </a:lnSpc>
              <a:buNone/>
            </a:pPr>
            <a:r>
              <a:rPr lang="en-US" sz="4950" b="1" spc="-74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O caminho já está desenhado. A data, ainda não.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952500" y="2936230"/>
            <a:ext cx="247650" cy="247650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5" name="Shape 3"/>
          <p:cNvSpPr/>
          <p:nvPr/>
        </p:nvSpPr>
        <p:spPr>
          <a:xfrm>
            <a:off x="1200150" y="3041005"/>
            <a:ext cx="2785021" cy="3810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3393430"/>
            <a:ext cx="3335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Fundação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012555"/>
            <a:ext cx="3335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4526905"/>
            <a:ext cx="3123651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CLI distribuída pelo Artifactory, conversa sobre o domínio, guardrails de aprovação e sandbox.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4289971" y="2936230"/>
            <a:ext cx="247650" cy="247650"/>
          </a:xfrm>
          <a:prstGeom prst="ellipse">
            <a:avLst/>
          </a:prstGeom>
          <a:solidFill>
            <a:srgbClr val="EC7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537621" y="3041005"/>
            <a:ext cx="2785170" cy="3810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11" name="Text 9"/>
          <p:cNvSpPr/>
          <p:nvPr/>
        </p:nvSpPr>
        <p:spPr>
          <a:xfrm>
            <a:off x="4289971" y="3393430"/>
            <a:ext cx="3336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RAG da arquitetura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289971" y="4012555"/>
            <a:ext cx="33361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4289971" y="4526905"/>
            <a:ext cx="3123804" cy="1156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agente decide quando consultar a base vetorial no IaraGenAI.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7627590" y="2936230"/>
            <a:ext cx="247650" cy="24765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EC7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75240" y="3041005"/>
            <a:ext cx="2785021" cy="381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16" name="Text 14"/>
          <p:cNvSpPr/>
          <p:nvPr/>
        </p:nvSpPr>
        <p:spPr>
          <a:xfrm>
            <a:off x="7627590" y="3393430"/>
            <a:ext cx="3123651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Starter e infraestrutura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627590" y="4422130"/>
            <a:ext cx="312365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ENTREGUE · ESTAMOS AQUI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7627590" y="5241280"/>
            <a:ext cx="3123651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Wizard determinístico da spec e Terraform de dev, hom e prod com contas AWS reais.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10965061" y="2936230"/>
            <a:ext cx="247650" cy="247650"/>
          </a:xfrm>
          <a:prstGeom prst="ellipse">
            <a:avLst/>
          </a:prstGeom>
          <a:ln w="38100">
            <a:solidFill>
              <a:srgbClr val="5B7F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12711" y="3041005"/>
            <a:ext cx="2785170" cy="3810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/>
        </p:spPr>
      </p:sp>
      <p:sp>
        <p:nvSpPr>
          <p:cNvPr id="21" name="Text 19"/>
          <p:cNvSpPr/>
          <p:nvPr/>
        </p:nvSpPr>
        <p:spPr>
          <a:xfrm>
            <a:off x="10965061" y="3393430"/>
            <a:ext cx="333610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Geração do código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965061" y="4012555"/>
            <a:ext cx="33361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965061" y="4526905"/>
            <a:ext cx="3123804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pom.xml e listener escritos a partir da spec; Worker acompanhado por App e Schedule.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4302680" y="2936230"/>
            <a:ext cx="247650" cy="247650"/>
          </a:xfrm>
          <a:prstGeom prst="ellipse">
            <a:avLst/>
          </a:prstGeom>
          <a:ln w="38100">
            <a:solidFill>
              <a:srgbClr val="5B7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302680" y="3393430"/>
            <a:ext cx="333593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FB6E8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Piloto e expansão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302680" y="4012555"/>
            <a:ext cx="33359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225" kern="0" dirty="0">
                <a:solidFill>
                  <a:srgbClr val="9FB6E8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PREVISTO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4302680" y="4526905"/>
            <a:ext cx="3123651" cy="1902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57"/>
              </a:lnSpc>
              <a:buNone/>
            </a:pPr>
            <a:r>
              <a:rPr lang="en-US" sz="2025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Squads-piloto na custódia, métricas de uso e o motor levado a outras áreas com arquitetura própria.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952500" y="7304038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2250" b="1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A sequência está priorizada; o calendário depende da capacidade acordada. Assumir prazo antes de acordar capacidade é o que transforma a iniciativa em dívida.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7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FFFFF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O PEDIDO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533525"/>
            <a:ext cx="1802130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613"/>
              </a:lnSpc>
              <a:buNone/>
            </a:pPr>
            <a:r>
              <a:rPr lang="en-US" sz="5400" b="1" spc="-81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Esta é a próxima etapa do que já construímos.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52500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Reconhecer como produto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52500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 dono, backlog e espaço na capacidade do time, e não como iniciativa paralela.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6565850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65850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Squads-piloto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565850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Nos próximos projetos novos da custódia, com acompanhamento das métricas acordadas.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2179201" y="2997994"/>
            <a:ext cx="56717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778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2179201" y="3702844"/>
            <a:ext cx="567176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061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Espaço nas demais áreas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179201" y="4308574"/>
            <a:ext cx="5310835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49"/>
              </a:lnSpc>
              <a:buNone/>
            </a:pPr>
            <a:r>
              <a:rPr lang="en-US" sz="2175" dirty="0">
                <a:solidFill>
                  <a:srgbClr val="3A1C00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Começando pelas que já têm arquitetura de referência escrita e o mesmo problema de aplicá-la.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500" y="6233964"/>
            <a:ext cx="157162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491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A arquitetura de referência já existe. A Custod.IA é como ela chega ao código.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95306"/>
            <a:ext cx="18288000" cy="857250"/>
          </a:xfrm>
          <a:prstGeom prst="rect">
            <a:avLst/>
          </a:prstGeom>
          <a:gradFill rotWithShape="1">
            <a:gsLst>
              <a:gs pos="0">
                <a:srgbClr val="EC7000">
                  <a:alpha val="0"/>
                </a:srgbClr>
              </a:gs>
              <a:gs pos="100000">
                <a:srgbClr val="EC7000">
                  <a:alpha val="1800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952500" y="1062038"/>
            <a:ext cx="838200" cy="952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5" name="Text 3"/>
          <p:cNvSpPr/>
          <p:nvPr/>
        </p:nvSpPr>
        <p:spPr>
          <a:xfrm>
            <a:off x="2019300" y="952500"/>
            <a:ext cx="42113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5A65B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DEMONSTRAÇÃO AO VIVO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52500" y="3481388"/>
            <a:ext cx="1802130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166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Hands-on.</a:t>
            </a:r>
            <a:pPr algn="l" indent="0" marL="0">
              <a:lnSpc>
                <a:spcPct val="76166"/>
              </a:lnSpc>
              <a:buNone/>
            </a:pPr>
            <a:r>
              <a:rPr lang="en-US" sz="11250" b="1" spc="-337" kern="0" dirty="0">
                <a:solidFill>
                  <a:srgbClr val="EC7000"/>
                </a:solidFill>
                <a:latin typeface="Itau Display" pitchFamily="34" charset="0"/>
                <a:ea typeface="Itau Display" pitchFamily="34" charset="-122"/>
                <a:cs typeface="Itau Display" pitchFamily="34" charset="-120"/>
              </a:rPr>
              <a:t>_</a:t>
            </a:r>
            <a:endParaRPr lang="en-US" sz="11250" dirty="0"/>
          </a:p>
        </p:txBody>
      </p:sp>
      <p:sp>
        <p:nvSpPr>
          <p:cNvPr id="7" name="Shape 5"/>
          <p:cNvSpPr/>
          <p:nvPr/>
        </p:nvSpPr>
        <p:spPr>
          <a:xfrm>
            <a:off x="952500" y="5262563"/>
            <a:ext cx="10477500" cy="57150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5700713"/>
            <a:ext cx="1226343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846"/>
              </a:lnSpc>
              <a:buNone/>
            </a:pPr>
            <a:r>
              <a:rPr lang="en-US" sz="3000" dirty="0">
                <a:solidFill>
                  <a:srgbClr val="D8E2F7"/>
                </a:solidFill>
                <a:latin typeface="Itau Text" pitchFamily="34" charset="0"/>
                <a:ea typeface="Itau Text" pitchFamily="34" charset="-122"/>
                <a:cs typeface="Itau Text" pitchFamily="34" charset="-120"/>
              </a:rPr>
              <a:t>Mão na massa: o agente rodando em um projeto real, do primeiro comando à spec gravada.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2500" y="8943975"/>
            <a:ext cx="1630263" cy="5810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9077325"/>
            <a:ext cx="12492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3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custodia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773263" y="8943975"/>
            <a:ext cx="2070199" cy="5810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01863" y="9077325"/>
            <a:ext cx="16891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43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/initialize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033963" y="8943975"/>
            <a:ext cx="1337072" cy="5810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62563" y="9077325"/>
            <a:ext cx="95607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73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/infra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2026-07-31T12:15:04Z</dcterms:created>
  <dcterms:modified xsi:type="dcterms:W3CDTF">2026-07-31T12:15:04Z</dcterms:modified>
</cp:coreProperties>
</file>